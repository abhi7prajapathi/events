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</p:sldIdLst>
  <p:sldSz cx="12192000" cy="6858000"/>
  <p:notesSz cx="6858000" cy="9144000"/>
  <p:embeddedFontLst>
    <p:embeddedFont>
      <p:font typeface="Montserrat" panose="00000500000000000000" pitchFamily="2" charset="0"/>
      <p:regular r:id="rId3"/>
      <p:bold r:id="rId4"/>
    </p:embeddedFont>
    <p:embeddedFont>
      <p:font typeface="Poppins" panose="00000500000000000000" pitchFamily="2" charset="0"/>
      <p:regular r:id="rId5"/>
      <p:bold r:id="rId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160"/>
        <p:guide pos="2880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525" y="9525"/>
            <a:ext cx="12172950" cy="57150"/>
          </a:xfrm>
          <a:prstGeom prst="rect">
            <a:avLst/>
          </a:prstGeom>
          <a:solidFill>
            <a:srgbClr val="903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525" y="6791325"/>
            <a:ext cx="12172950" cy="57150"/>
          </a:xfrm>
          <a:prstGeom prst="rect">
            <a:avLst/>
          </a:prstGeom>
          <a:solidFill>
            <a:srgbClr val="903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2925" y="2639317"/>
            <a:ext cx="11106150" cy="1198215"/>
          </a:xfrm>
          <a:prstGeom prst="roundRect">
            <a:avLst>
              <a:gd name="adj" fmla="val 953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2925" y="5057626"/>
            <a:ext cx="7067550" cy="1371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9D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839075" y="5057626"/>
            <a:ext cx="3810000" cy="1371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2925" y="3818483"/>
            <a:ext cx="11106150" cy="1905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2925" y="2639317"/>
            <a:ext cx="11106150" cy="1905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2925" y="2639317"/>
            <a:ext cx="76200" cy="1198215"/>
          </a:xfrm>
          <a:prstGeom prst="rect">
            <a:avLst/>
          </a:prstGeom>
          <a:solidFill>
            <a:srgbClr val="7E2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630025" y="2639317"/>
            <a:ext cx="19050" cy="1198215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839075" y="6419701"/>
            <a:ext cx="3810000" cy="9525"/>
          </a:xfrm>
          <a:prstGeom prst="rect">
            <a:avLst/>
          </a:prstGeom>
          <a:solidFill>
            <a:srgbClr val="FDE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839075" y="5057626"/>
            <a:ext cx="3810000" cy="9525"/>
          </a:xfrm>
          <a:prstGeom prst="rect">
            <a:avLst/>
          </a:prstGeom>
          <a:solidFill>
            <a:srgbClr val="FDE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839075" y="5057626"/>
            <a:ext cx="47625" cy="13716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1639550" y="5057626"/>
            <a:ext cx="9525" cy="1371600"/>
          </a:xfrm>
          <a:prstGeom prst="rect">
            <a:avLst/>
          </a:prstGeom>
          <a:solidFill>
            <a:srgbClr val="FDE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115300" y="5643413"/>
            <a:ext cx="3295650" cy="466725"/>
          </a:xfrm>
          <a:prstGeom prst="roundRect">
            <a:avLst>
              <a:gd name="adj" fmla="val 16326"/>
            </a:avLst>
          </a:prstGeom>
          <a:solidFill>
            <a:srgbClr val="FFFBEB"/>
          </a:solidFill>
          <a:ln w="9525">
            <a:solidFill>
              <a:srgbClr val="FEF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81050" y="5571976"/>
            <a:ext cx="1562100" cy="657225"/>
          </a:xfrm>
          <a:prstGeom prst="roundRect">
            <a:avLst>
              <a:gd name="adj" fmla="val 16326"/>
            </a:avLst>
          </a:prstGeom>
          <a:solidFill>
            <a:srgbClr val="FAF5FF"/>
          </a:solidFill>
          <a:ln w="9525">
            <a:solidFill>
              <a:srgbClr val="D8B4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2457450" y="5543401"/>
            <a:ext cx="1562100" cy="685800"/>
          </a:xfrm>
          <a:prstGeom prst="roundRect">
            <a:avLst>
              <a:gd name="adj" fmla="val 11111"/>
            </a:avLst>
          </a:prstGeom>
          <a:solidFill>
            <a:srgbClr val="FAF5FF"/>
          </a:solidFill>
          <a:ln w="9525">
            <a:solidFill>
              <a:srgbClr val="D8B4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133850" y="5543401"/>
            <a:ext cx="1562100" cy="685800"/>
          </a:xfrm>
          <a:prstGeom prst="roundRect">
            <a:avLst>
              <a:gd name="adj" fmla="val 11111"/>
            </a:avLst>
          </a:prstGeom>
          <a:solidFill>
            <a:srgbClr val="FAF5FF"/>
          </a:solidFill>
          <a:ln w="9525">
            <a:solidFill>
              <a:srgbClr val="D8B4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5810250" y="5543401"/>
            <a:ext cx="1562100" cy="685800"/>
          </a:xfrm>
          <a:prstGeom prst="roundRect">
            <a:avLst>
              <a:gd name="adj" fmla="val 11111"/>
            </a:avLst>
          </a:prstGeom>
          <a:solidFill>
            <a:srgbClr val="FAF5FF"/>
          </a:solidFill>
          <a:ln w="9525">
            <a:solidFill>
              <a:srgbClr val="D8B4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925" y="428625"/>
            <a:ext cx="1828800" cy="762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485554" y="457200"/>
            <a:ext cx="8163520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75" b="1" i="0" u="none">
                <a:solidFill>
                  <a:srgbClr val="3B0764"/>
                </a:solidFill>
                <a:latin typeface="Montserrat"/>
              </a:rPr>
              <a:t>ER. PERUMAL MANIMEKALAI COLLEGE OF ENGINEERING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4220" y="714375"/>
            <a:ext cx="3834854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75" b="1" i="0" u="none">
                <a:solidFill>
                  <a:srgbClr val="B45309"/>
                </a:solidFill>
                <a:latin typeface="Poppins"/>
              </a:rPr>
              <a:t>AN AUTONOMOUS INSTITUTION • HOSUR – 635 117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07535" y="942975"/>
            <a:ext cx="3741539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25" b="1" i="0" u="none">
                <a:solidFill>
                  <a:srgbClr val="6B21A8"/>
                </a:solidFill>
                <a:latin typeface="Poppins"/>
              </a:rPr>
              <a:t>DEPARTMENT OF INFORMATION TECHNOLOGY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2025" y="2925067"/>
            <a:ext cx="1042035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B45309"/>
                </a:solidFill>
                <a:latin typeface="Poppins"/>
              </a:rPr>
              <a:t>PROJECT TITLE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2025" y="3191767"/>
            <a:ext cx="7315200" cy="33586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35"/>
              </a:lnSpc>
            </a:pPr>
            <a:r>
              <a:rPr lang="en-IN" sz="2100" b="1" i="0" u="none">
                <a:solidFill>
                  <a:srgbClr val="1E1B4B"/>
                </a:solidFill>
                <a:latin typeface="Montserrat"/>
              </a:rPr>
              <a:t>Campus Circ</a:t>
            </a:r>
            <a:r>
              <a:rPr lang="en-IN" sz="2100" b="1">
                <a:solidFill>
                  <a:srgbClr val="1E1B4B"/>
                </a:solidFill>
                <a:latin typeface="Montserrat"/>
              </a:rPr>
              <a:t>le</a:t>
            </a:r>
            <a:endParaRPr sz="2100" b="1" i="0" u="none">
              <a:solidFill>
                <a:srgbClr val="1E1B4B"/>
              </a:solidFill>
              <a:latin typeface="Montserrat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81050" y="5257651"/>
            <a:ext cx="66865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6B21A8"/>
                </a:solidFill>
                <a:latin typeface="Poppins"/>
              </a:rPr>
              <a:t>PRESENTED BY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300" y="5376713"/>
            <a:ext cx="33909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B45309"/>
                </a:solidFill>
                <a:latin typeface="Poppins"/>
              </a:rPr>
              <a:t>PROJECT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81937" y="5767238"/>
            <a:ext cx="3762375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IN" sz="1125" b="1">
                <a:solidFill>
                  <a:srgbClr val="78350F"/>
                </a:solidFill>
                <a:latin typeface="Poppins"/>
              </a:rPr>
              <a:t>Sijal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1038" y="5819557"/>
            <a:ext cx="1690687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IN" sz="1125" b="1" i="0" u="none">
                <a:solidFill>
                  <a:srgbClr val="3B0764"/>
                </a:solidFill>
                <a:latin typeface="Poppins"/>
              </a:rPr>
              <a:t>Abhilash R</a:t>
            </a:r>
            <a:endParaRPr sz="1125" b="1" i="0" u="none">
              <a:solidFill>
                <a:srgbClr val="3B0764"/>
              </a:solidFill>
              <a:latin typeface="Poppin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402682" y="5813189"/>
            <a:ext cx="1690687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IN" sz="1125" b="1" i="0" u="none">
                <a:solidFill>
                  <a:srgbClr val="3B0764"/>
                </a:solidFill>
                <a:latin typeface="Poppins"/>
              </a:rPr>
              <a:t>Anbu </a:t>
            </a:r>
            <a:r>
              <a:rPr lang="en-IN" sz="1125" b="1">
                <a:solidFill>
                  <a:srgbClr val="3B0764"/>
                </a:solidFill>
                <a:latin typeface="Poppins"/>
              </a:rPr>
              <a:t>S</a:t>
            </a:r>
            <a:r>
              <a:rPr lang="en-IN" sz="1125" b="1" i="0" u="none">
                <a:solidFill>
                  <a:srgbClr val="3B0764"/>
                </a:solidFill>
                <a:latin typeface="Poppins"/>
              </a:rPr>
              <a:t>elvan K</a:t>
            </a:r>
            <a:endParaRPr sz="1125" b="1" i="0" u="none">
              <a:solidFill>
                <a:srgbClr val="3B0764"/>
              </a:solidFill>
              <a:latin typeface="Poppi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114800" y="5803664"/>
            <a:ext cx="1690687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IN" sz="1125" b="1" i="0" u="none">
                <a:solidFill>
                  <a:srgbClr val="3B0764"/>
                </a:solidFill>
                <a:latin typeface="Poppins"/>
              </a:rPr>
              <a:t>Dileep Kumar A</a:t>
            </a:r>
            <a:endParaRPr sz="1125" b="1" i="0" u="none">
              <a:solidFill>
                <a:srgbClr val="3B0764"/>
              </a:solidFill>
              <a:latin typeface="Poppin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5738812" y="5813189"/>
            <a:ext cx="1690687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IN" sz="1125" b="1" i="0" u="none" err="1">
                <a:solidFill>
                  <a:srgbClr val="3B0764"/>
                </a:solidFill>
                <a:latin typeface="Poppins"/>
              </a:rPr>
              <a:t>Aanandha</a:t>
            </a:r>
            <a:r>
              <a:rPr lang="en-IN" sz="1125" b="1" i="0" u="none">
                <a:solidFill>
                  <a:srgbClr val="3B0764"/>
                </a:solidFill>
                <a:latin typeface="Poppins"/>
              </a:rPr>
              <a:t> S</a:t>
            </a:r>
            <a:endParaRPr sz="1125" b="1" i="0" u="none">
              <a:solidFill>
                <a:srgbClr val="3B0764"/>
              </a:solidFill>
              <a:latin typeface="Poppi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FE870"/>
                </a:solidFill>
                <a:latin typeface="Calibri"/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EFA"/>
                </a:solidFill>
                <a:latin typeface="Calibri"/>
              </a:rPr>
              <a:t>What is Campus Circle?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43B31"/>
                </a:solidFill>
                <a:latin typeface="Calibri"/>
              </a:rPr>
              <a:t>Campus Circle is a modern full-stack college event management platform designed to bridge the gap between event organizers and students. It provides a centralized, responsive interface for publishing events, managing student rosters, automated email ticketing, and digital certifications.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606040"/>
            <a:ext cx="3749039" cy="22860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272491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FE870"/>
                </a:solidFill>
                <a:latin typeface="Calibri"/>
              </a:rPr>
              <a:t>🎯 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3145536"/>
            <a:ext cx="34290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EFA"/>
                </a:solidFill>
                <a:latin typeface="Calibri"/>
              </a:rPr>
              <a:t>Students miss events due to fragmented notices on WhatsApp and notice boards. Admins lack real-time attendee visibility.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2606040"/>
            <a:ext cx="3749039" cy="22860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62272" y="272491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FE870"/>
                </a:solidFill>
                <a:latin typeface="Calibri"/>
              </a:rPr>
              <a:t>💡  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2272" y="3145536"/>
            <a:ext cx="34290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EFA"/>
                </a:solidFill>
                <a:latin typeface="Calibri"/>
              </a:rPr>
              <a:t>Centralized platform where admins publish events, track student rosters, and send automated Brevo email passes.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606040"/>
            <a:ext cx="3749039" cy="22860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272491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FE870"/>
                </a:solidFill>
                <a:latin typeface="Calibri"/>
              </a:rPr>
              <a:t>🌐  Deployment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3145536"/>
            <a:ext cx="34290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EFA"/>
                </a:solidFill>
                <a:latin typeface="Calibri"/>
              </a:rPr>
              <a:t>Hosted on Vercel with Neon PostgreSQL serverless cloud DB, Brevo transactional email, and Gemini AI integration.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5989320"/>
            <a:ext cx="12188952" cy="18288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0" y="608076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76817B"/>
                </a:solidFill>
                <a:latin typeface="Calibri"/>
              </a:rPr>
              <a:t>Department of Information Technology  ·  Er. Perumal Manimekalai College of Engineering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FE870"/>
                </a:solidFill>
                <a:latin typeface="Calibri"/>
              </a:rPr>
              <a:t>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EFA"/>
                </a:solidFill>
                <a:latin typeface="Calibri"/>
              </a:rPr>
              <a:t>Technologies powering Campus Circle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80160"/>
            <a:ext cx="12188952" cy="27432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463040"/>
            <a:ext cx="3749039" cy="224028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63040"/>
            <a:ext cx="3749039" cy="457200"/>
          </a:xfrm>
          <a:prstGeom prst="rect">
            <a:avLst/>
          </a:prstGeom>
          <a:solidFill>
            <a:srgbClr val="1E3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2704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⚛  React 18 + Vite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011680"/>
            <a:ext cx="349300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EFA"/>
                </a:solidFill>
                <a:latin typeface="Calibri"/>
              </a:rPr>
              <a:t>Frontend UI framework with mobile-responsive layouts, fast HMR, and smooth modal flows.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463040"/>
            <a:ext cx="3749039" cy="224028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1463040"/>
            <a:ext cx="3749039" cy="457200"/>
          </a:xfrm>
          <a:prstGeom prst="rect">
            <a:avLst/>
          </a:prstGeom>
          <a:solidFill>
            <a:srgbClr val="1E3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152704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🐍  Flask (Python)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011680"/>
            <a:ext cx="349300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EFA"/>
                </a:solidFill>
                <a:latin typeface="Calibri"/>
              </a:rPr>
              <a:t>Lightweight REST API backend serving modular endpoints for events, users, and attendees.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79" y="1463040"/>
            <a:ext cx="3749039" cy="224028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3879" y="1463040"/>
            <a:ext cx="3749039" cy="457200"/>
          </a:xfrm>
          <a:prstGeom prst="rect">
            <a:avLst/>
          </a:prstGeom>
          <a:solidFill>
            <a:srgbClr val="1E3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52704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🗄  PostgreSQL (Neon)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011680"/>
            <a:ext cx="349300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EFA"/>
                </a:solidFill>
                <a:latin typeface="Calibri"/>
              </a:rPr>
              <a:t>Serverless cloud relational database — persistent, scalable, and securely pooled.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931920"/>
            <a:ext cx="3749039" cy="224028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3931920"/>
            <a:ext cx="3749039" cy="457200"/>
          </a:xfrm>
          <a:prstGeom prst="rect">
            <a:avLst/>
          </a:prstGeom>
          <a:solidFill>
            <a:srgbClr val="1E3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99592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🤖  Gemini AI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480560"/>
            <a:ext cx="349300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EFA"/>
                </a:solidFill>
                <a:latin typeface="Calibri"/>
              </a:rPr>
              <a:t>Google generative AI for 1-click event description and schedule generation for admins.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59" y="3931920"/>
            <a:ext cx="3749039" cy="224028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51959" y="3931920"/>
            <a:ext cx="3749039" cy="457200"/>
          </a:xfrm>
          <a:prstGeom prst="rect">
            <a:avLst/>
          </a:prstGeom>
          <a:solidFill>
            <a:srgbClr val="1E3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0" y="399592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📨  Brevo Email API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4480560"/>
            <a:ext cx="349300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EFA"/>
                </a:solidFill>
                <a:latin typeface="Calibri"/>
              </a:rPr>
              <a:t>Transactional email delivery for student Welcome passes and event registration tickets.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83879" y="3931920"/>
            <a:ext cx="3749039" cy="224028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83879" y="3931920"/>
            <a:ext cx="3749039" cy="457200"/>
          </a:xfrm>
          <a:prstGeom prst="rect">
            <a:avLst/>
          </a:prstGeom>
          <a:solidFill>
            <a:srgbClr val="1E3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399592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☁  Vercel + GitHub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4480560"/>
            <a:ext cx="349300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EFA"/>
                </a:solidFill>
                <a:latin typeface="Calibri"/>
              </a:rPr>
              <a:t>Automated CI/CD deployment pipeline: git push main triggers instant production builds.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FE870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EFA"/>
                </a:solidFill>
                <a:latin typeface="Calibri"/>
              </a:rPr>
              <a:t>End-to-end dataflow &amp; service integrations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560320"/>
            <a:ext cx="2377440" cy="164592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78892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FE870"/>
                </a:solidFill>
                <a:latin typeface="Calibri"/>
              </a:rPr>
              <a:t>👤  User / Admin
(Mobile &amp; Desktop)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2560320"/>
            <a:ext cx="2377440" cy="164592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278892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FE870"/>
                </a:solidFill>
                <a:latin typeface="Calibri"/>
              </a:rPr>
              <a:t>⚛  React Client
(Vite / Vercel)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2560320"/>
            <a:ext cx="2377440" cy="164592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79" y="278892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FE870"/>
                </a:solidFill>
                <a:latin typeface="Calibri"/>
              </a:rPr>
              <a:t>🐍  Flask Backend
(REST API Services)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69680" y="2560320"/>
            <a:ext cx="2377440" cy="164592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19" y="278892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FE870"/>
                </a:solidFill>
                <a:latin typeface="Calibri"/>
              </a:rPr>
              <a:t>🗄  Neon Cloud
(PostgreSQL DB)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3246120"/>
            <a:ext cx="411480" cy="64008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16936" y="311810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FE870"/>
                </a:solidFill>
                <a:latin typeface="Calibri"/>
              </a:rPr>
              <a:t>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23560" y="3246120"/>
            <a:ext cx="411480" cy="64008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51576" y="311810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FE870"/>
                </a:solidFill>
                <a:latin typeface="Calibri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58200" y="3246120"/>
            <a:ext cx="411480" cy="64008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86216" y="311810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FE870"/>
                </a:solidFill>
                <a:latin typeface="Calibri"/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0" y="4572000"/>
            <a:ext cx="3108960" cy="123444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97680" y="4681728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FE870"/>
                </a:solidFill>
                <a:latin typeface="Calibri"/>
              </a:rPr>
              <a:t>🤖  Google Gemini AI
(AI Event Auto-Fill)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2519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76817B"/>
                </a:solidFill>
                <a:latin typeface="Calibri"/>
              </a:rPr>
              <a:t>↕ Event copywriting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80960" y="4572000"/>
            <a:ext cx="3566160" cy="123444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0" y="4681728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FE870"/>
                </a:solidFill>
                <a:latin typeface="Calibri"/>
              </a:rPr>
              <a:t>📨  Brevo Email API (v3)
(Welcome &amp; Event Passes)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42519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76817B"/>
                </a:solidFill>
                <a:latin typeface="Calibri"/>
              </a:rPr>
              <a:t>↕ Async email dispatch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0807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76817B"/>
                </a:solidFill>
                <a:latin typeface="Calibri"/>
              </a:rPr>
              <a:t>Fully decoupled architecture with background threading for instant client response times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FE870"/>
                </a:solidFill>
                <a:latin typeface="Calibri"/>
              </a:rPr>
              <a:t>Student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EFA"/>
                </a:solidFill>
                <a:latin typeface="Calibri"/>
              </a:rPr>
              <a:t>Everything a student needs in one place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669280" cy="1572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50876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🔍  Discover 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920240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EFA"/>
                </a:solidFill>
                <a:latin typeface="Calibri"/>
              </a:rPr>
              <a:t>Browse all upcoming campus events filtered by category: Workshop, Technical, Cultural, Placement, Seminar.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417320"/>
            <a:ext cx="5669280" cy="1572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150876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✅  One-Click Register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1920240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EFA"/>
                </a:solidFill>
                <a:latin typeface="Calibri"/>
              </a:rPr>
              <a:t>Register for any event with a single click. Duplicate registrations are prevented automatically.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127248"/>
            <a:ext cx="5669280" cy="1572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3218688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📅  My Events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630168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EFA"/>
                </a:solidFill>
                <a:latin typeface="Calibri"/>
              </a:rPr>
              <a:t>A personal dashboard showing all registered events with date, time, venue and confirmation status.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3127248"/>
            <a:ext cx="5669280" cy="1572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2" y="3218688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🏅  Certificates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3630168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EFA"/>
                </a:solidFill>
                <a:latin typeface="Calibri"/>
              </a:rPr>
              <a:t>Auto-generated participation certificates with the student's name, event details, and authorized signature — printable as PDF.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837176"/>
            <a:ext cx="5669280" cy="1572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4928616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💡  Recommendations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5340096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EFA"/>
                </a:solidFill>
                <a:latin typeface="Calibri"/>
              </a:rPr>
              <a:t>AI-style recommendations based on declared interests so students never miss what they care about.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4837176"/>
            <a:ext cx="5669280" cy="1572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4928616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📨  Email Event 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5340096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EFA"/>
                </a:solidFill>
                <a:latin typeface="Calibri"/>
              </a:rPr>
              <a:t>Instant confirmation email delivered via Brevo with event timing, venue directions, and reminders.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FE870"/>
                </a:solidFill>
                <a:latin typeface="Calibri"/>
              </a:rPr>
              <a:t>Admin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EFA"/>
                </a:solidFill>
                <a:latin typeface="Calibri"/>
              </a:rPr>
              <a:t>Comprehensive control &amp; student attendee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5623560" cy="20574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63040"/>
            <a:ext cx="5623560" cy="47548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27048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 i="0">
                <a:solidFill>
                  <a:srgbClr val="CFE870"/>
                </a:solidFill>
                <a:latin typeface="Calibri"/>
              </a:rPr>
              <a:t>👥  Registered Student Rosters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2057400"/>
            <a:ext cx="53492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EFA"/>
                </a:solidFill>
                <a:latin typeface="Calibri"/>
              </a:rPr>
              <a:t>Admins can view the full list of enrolled students for any event with name, reg number, department, class, and email.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463040"/>
            <a:ext cx="5623560" cy="20574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463040"/>
            <a:ext cx="5623560" cy="47548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527048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 i="0">
                <a:solidFill>
                  <a:srgbClr val="CFE870"/>
                </a:solidFill>
                <a:latin typeface="Calibri"/>
              </a:rPr>
              <a:t>📥  CSV Export &amp; Print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2" y="2057400"/>
            <a:ext cx="53492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EFA"/>
                </a:solidFill>
                <a:latin typeface="Calibri"/>
              </a:rPr>
              <a:t>Export attendee lists to CSV for offline attendance tracking or print the roster directly for campus gate checks.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749039"/>
            <a:ext cx="5623560" cy="20574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749039"/>
            <a:ext cx="5623560" cy="47548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813048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 i="0">
                <a:solidFill>
                  <a:srgbClr val="CFE870"/>
                </a:solidFill>
                <a:latin typeface="Calibri"/>
              </a:rPr>
              <a:t>✨  AI Auto-Fill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343400"/>
            <a:ext cx="53492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EFA"/>
                </a:solidFill>
                <a:latin typeface="Calibri"/>
              </a:rPr>
              <a:t>Type a rough idea (e.g. 'hackathon on friday with prizes') and Gemini AI generates the full structured event listing.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3749039"/>
            <a:ext cx="5623560" cy="20574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3749039"/>
            <a:ext cx="5623560" cy="47548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813048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 i="0">
                <a:solidFill>
                  <a:srgbClr val="CFE870"/>
                </a:solidFill>
                <a:latin typeface="Calibri"/>
              </a:rPr>
              <a:t>📊  Live Analytics &amp; Deletion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343400"/>
            <a:ext cx="53492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EFA"/>
                </a:solidFill>
                <a:latin typeface="Calibri"/>
              </a:rPr>
              <a:t>Monitor live counts of active events, registrations, and registered students with clean event lifecycle management.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FE870"/>
                </a:solidFill>
                <a:latin typeface="Calibri"/>
              </a:rPr>
              <a:t>AI &amp; Transactional Email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EFA"/>
                </a:solidFill>
                <a:latin typeface="Calibri"/>
              </a:rPr>
              <a:t>Automated intelligence with Google Gemini &amp; Brevo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11430000" cy="105156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FFFEFA"/>
                </a:solidFill>
                <a:latin typeface="Calibri"/>
              </a:rPr>
              <a:t>Campus Circle integrates AI-assisted event creation and automated email dispatching. Admins draft events in seconds while students receive instant branded registration passes in their inbox.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633472"/>
            <a:ext cx="2788920" cy="27432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1600" y="2724912"/>
            <a:ext cx="777240" cy="777240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2761488"/>
            <a:ext cx="777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43B31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61188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CFE870"/>
                </a:solidFill>
                <a:latin typeface="Calibri"/>
              </a:rPr>
              <a:t>AI Auto-Fill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1605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EFA"/>
                </a:solidFill>
                <a:latin typeface="Calibri"/>
              </a:rPr>
              <a:t>Admin types brief idea → Gemini AI generates polished title, category, description, and timing.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0128" y="2633472"/>
            <a:ext cx="2788920" cy="27432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724912"/>
            <a:ext cx="777240" cy="777240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15968" y="2761488"/>
            <a:ext cx="777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43B31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7288" y="361188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CFE870"/>
                </a:solidFill>
                <a:latin typeface="Calibri"/>
              </a:rPr>
              <a:t>Instant Publishing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47288" y="41605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EFA"/>
                </a:solidFill>
                <a:latin typeface="Calibri"/>
              </a:rPr>
              <a:t>Event is validated and stored in Neon PostgreSQL cloud DB, immediately live on Discover.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4496" y="2633472"/>
            <a:ext cx="2788920" cy="27432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0336" y="2724912"/>
            <a:ext cx="777240" cy="777240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0336" y="2761488"/>
            <a:ext cx="777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43B31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61188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CFE870"/>
                </a:solidFill>
                <a:latin typeface="Calibri"/>
              </a:rPr>
              <a:t>Welcome Email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1656" y="41605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EFA"/>
                </a:solidFill>
                <a:latin typeface="Calibri"/>
              </a:rPr>
              <a:t>New student registers → Brevo API sends a branded welcome email with profile credentials.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98864" y="2633472"/>
            <a:ext cx="2788920" cy="27432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204704" y="2724912"/>
            <a:ext cx="777240" cy="777240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04704" y="2761488"/>
            <a:ext cx="777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43B31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6024" y="361188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CFE870"/>
                </a:solidFill>
                <a:latin typeface="Calibri"/>
              </a:rPr>
              <a:t>Event Ticket Pass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36024" y="41605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EFA"/>
                </a:solidFill>
                <a:latin typeface="Calibri"/>
              </a:rPr>
              <a:t>Student clicks Register → Brevo dispatches a ticket pass with schedule, venue, and reminders.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94360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6817B"/>
                </a:solidFill>
                <a:latin typeface="Calibri"/>
              </a:rPr>
              <a:t>Multi-model AI fallback: gemini-3.5-flash → gemini-flash-latest  |  Async background email threading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FE870"/>
                </a:solidFill>
                <a:latin typeface="Calibri"/>
              </a:rPr>
              <a:t>Certificate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EFA"/>
                </a:solidFill>
                <a:latin typeface="Calibri"/>
              </a:rPr>
              <a:t>Printable participation credentials &amp; digital verification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7498079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FD6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256032" cy="484632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45920"/>
            <a:ext cx="73152" cy="658368"/>
          </a:xfrm>
          <a:prstGeom prst="rect">
            <a:avLst/>
          </a:prstGeom>
          <a:solidFill>
            <a:srgbClr val="9FB8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27632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43B31"/>
                </a:solidFill>
                <a:latin typeface="Calibri"/>
              </a:rPr>
              <a:t>AUTHORIZED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874519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43B31"/>
                </a:solidFill>
                <a:latin typeface="Calibri"/>
              </a:rPr>
              <a:t>DISTRIBUTOR CERTIFICATE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572768"/>
            <a:ext cx="731520" cy="731520"/>
          </a:xfrm>
          <a:prstGeom prst="rect">
            <a:avLst/>
          </a:prstGeom>
          <a:solidFill>
            <a:srgbClr val="DFB7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609344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A3305"/>
                </a:solidFill>
                <a:latin typeface="Calibri"/>
              </a:rPr>
              <a:t>★
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1600200"/>
            <a:ext cx="658368" cy="658368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1737360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QR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46888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6817B"/>
                </a:solidFill>
                <a:latin typeface="Calibri"/>
              </a:rPr>
              <a:t>This certifies that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432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43B31"/>
                </a:solidFill>
                <a:latin typeface="Calibri"/>
              </a:rPr>
              <a:t>[Abhilash R]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3337560"/>
            <a:ext cx="6583680" cy="1463040"/>
          </a:xfrm>
          <a:prstGeom prst="rect">
            <a:avLst/>
          </a:prstGeom>
          <a:solidFill>
            <a:srgbClr val="FBFDF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429000"/>
            <a:ext cx="6309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3D34"/>
                </a:solidFill>
                <a:latin typeface="Calibri"/>
              </a:rPr>
              <a:t>is an Authorized Participant for [CodeCraft Hackathon] under the [Campus Circle] product line.
This authorization applies exclusively to the technical sprint and workshops held on 2026-10-11 at C Block Auditorium, Er. Perumal Manimekalai College of Engineering.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0" y="5257800"/>
            <a:ext cx="1737360" cy="18288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0" y="53035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243B31"/>
                </a:solidFill>
                <a:latin typeface="Calibri"/>
              </a:rPr>
              <a:t>[Abhilash R]
[AUTHORIZED SIGNATORY]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852160"/>
            <a:ext cx="7498079" cy="411480"/>
          </a:xfrm>
          <a:prstGeom prst="rect">
            <a:avLst/>
          </a:prstGeom>
          <a:solidFill>
            <a:srgbClr val="9FB8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0" y="592531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243B31"/>
                </a:solidFill>
                <a:latin typeface="Calibri"/>
              </a:rPr>
              <a:t>[certificate.issued_on: 2026-10-11]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0" y="5852160"/>
            <a:ext cx="548640" cy="41148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92440" y="1417320"/>
            <a:ext cx="3749039" cy="484632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5319" y="1554480"/>
            <a:ext cx="33832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CFE870"/>
                </a:solidFill>
                <a:latin typeface="Calibri"/>
              </a:rPr>
              <a:t>Certificate Features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FFFEFA"/>
                </a:solidFill>
                <a:latin typeface="Calibri"/>
              </a:rPr>
              <a:t>• ✅  Designed with official distributor layout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FFFEFA"/>
                </a:solidFill>
                <a:latin typeface="Calibri"/>
              </a:rPr>
              <a:t>• ✅  Adaptive layout fits perfectly on mobile screens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FFFEFA"/>
                </a:solidFill>
                <a:latin typeface="Calibri"/>
              </a:rPr>
              <a:t>• ✅  Digital authentication seal &amp; QR verification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FFFEFA"/>
                </a:solidFill>
                <a:latin typeface="Calibri"/>
              </a:rPr>
              <a:t>• ✅  Admin signature integrated via CSS blend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FFFEFA"/>
                </a:solidFill>
                <a:latin typeface="Calibri"/>
              </a:rPr>
              <a:t>• ✅  Landscape A4 auto-print ready (@page size)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FE870"/>
                </a:solidFill>
                <a:latin typeface="Calibri"/>
              </a:rPr>
              <a:t>Database Schema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EFA"/>
                </a:solidFill>
                <a:latin typeface="Calibri"/>
              </a:rPr>
              <a:t>PostgreSQL tables on Neon Cloud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17320"/>
            <a:ext cx="3749039" cy="475488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43B31"/>
                </a:solidFill>
                <a:latin typeface="Calibri"/>
              </a:rPr>
              <a:t>users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892807"/>
            <a:ext cx="3749039" cy="452628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" y="1984248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id            SERIAL PRIMARY KEY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2423160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name          TEXT NOT NULL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2862072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email         TEXT UNIQUE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3300984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password      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" y="3739896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reg_no        TEXT UNIQUE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4178808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department    TEXT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" y="4617720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class         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5056632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interests     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" y="5495544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role          TEXT DEFAULT 'student'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1959" y="1417320"/>
            <a:ext cx="3749039" cy="475488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1463040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43B31"/>
                </a:solidFill>
                <a:latin typeface="Calibri"/>
              </a:rPr>
              <a:t>events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59" y="1892807"/>
            <a:ext cx="3749039" cy="452628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16551" y="1984248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id            SERIAL PRIMARY KEY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6551" y="2423160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title         TEXT NOT NULL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6551" y="2862072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category      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1" y="3300984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date          TEXT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6551" y="3739896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time          TEXT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6551" y="4178808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venue         TEXT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6551" y="4617720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deadline      TEXT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6551" y="5056632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description   TEXT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6551" y="5495544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seats         INT DEFAULT 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6551" y="5934456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image         TEXT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83879" y="1417320"/>
            <a:ext cx="3749039" cy="475488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1463040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43B31"/>
                </a:solidFill>
                <a:latin typeface="Calibri"/>
              </a:rPr>
              <a:t>registrations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83879" y="1892807"/>
            <a:ext cx="3749039" cy="452628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48471" y="1984248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id            SERIAL PRIMARY KEY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8471" y="2423160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user_id       INT → users.id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48471" y="2862072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event_id      INT → events.id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48471" y="3300984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status        TEXT DEFAULT 'Confirmed'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48471" y="3739896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created_at    TIMESTAMP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48471" y="4178808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/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48471" y="4617720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UNIQUE(user_id, event_id)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48471" y="5056632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JOIN user_id → Attendee List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FE870"/>
                </a:solidFill>
                <a:latin typeface="Calibri"/>
              </a:rPr>
              <a:t>REST API Endpoints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EFA"/>
                </a:solidFill>
                <a:latin typeface="Calibri"/>
              </a:rPr>
              <a:t>Flask backend routes &amp; attendee services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17320"/>
            <a:ext cx="11887200" cy="429768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63040"/>
            <a:ext cx="868680" cy="3383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81328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1481328"/>
            <a:ext cx="4937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FE870"/>
                </a:solidFill>
                <a:latin typeface="Courier New"/>
              </a:rPr>
              <a:t>/api/events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81328"/>
            <a:ext cx="57607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List all events with registration status per student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911095"/>
            <a:ext cx="11887200" cy="429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" y="1956815"/>
            <a:ext cx="868680" cy="33832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975103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8448" y="1975103"/>
            <a:ext cx="4937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FE870"/>
                </a:solidFill>
                <a:latin typeface="Courier New"/>
              </a:rPr>
              <a:t>/api/events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75103"/>
            <a:ext cx="57607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Publish new event to campus catalog (Admin)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404872"/>
            <a:ext cx="11887200" cy="429768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472" y="2450591"/>
            <a:ext cx="868680" cy="33832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468879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DELETE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2468879"/>
            <a:ext cx="4937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FE870"/>
                </a:solidFill>
                <a:latin typeface="Courier New"/>
              </a:rPr>
              <a:t>/api/events/&lt;id&gt;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68879"/>
            <a:ext cx="57607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Delete event with cascade registration cleanup (Admin)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898648"/>
            <a:ext cx="11887200" cy="429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7472" y="2944368"/>
            <a:ext cx="868680" cy="33832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472" y="2962656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8448" y="2962656"/>
            <a:ext cx="4937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FE870"/>
                </a:solidFill>
                <a:latin typeface="Courier New"/>
              </a:rPr>
              <a:t>/api/events/&lt;id&gt;/register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2962656"/>
            <a:ext cx="57607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Register student + dispatch Brevo email pass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392424"/>
            <a:ext cx="11887200" cy="429768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47472" y="3438144"/>
            <a:ext cx="868680" cy="3383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7472" y="3456432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98448" y="3456432"/>
            <a:ext cx="4937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FE870"/>
                </a:solidFill>
                <a:latin typeface="Courier New"/>
              </a:rPr>
              <a:t>/api/events/&lt;id&gt;/registrations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3456432"/>
            <a:ext cx="57607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Fetch attendee roster (names, reg_no, dept) for admin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3886200"/>
            <a:ext cx="11887200" cy="429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47472" y="3931920"/>
            <a:ext cx="868680" cy="33832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7472" y="3950208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98448" y="3950208"/>
            <a:ext cx="4937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FE870"/>
                </a:solidFill>
                <a:latin typeface="Courier New"/>
              </a:rPr>
              <a:t>/api/register-user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3950208"/>
            <a:ext cx="57607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Create student account + dispatch Brevo welcome email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379976"/>
            <a:ext cx="11887200" cy="429768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7472" y="4425696"/>
            <a:ext cx="868680" cy="33832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7472" y="4443984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8448" y="4443984"/>
            <a:ext cx="4937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FE870"/>
                </a:solidFill>
                <a:latin typeface="Courier New"/>
              </a:rPr>
              <a:t>/api/login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4443984"/>
            <a:ext cx="57607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Authenticate student/admin &amp; return profile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4873752"/>
            <a:ext cx="11887200" cy="429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7472" y="4919472"/>
            <a:ext cx="868680" cy="3383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7472" y="4937760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98448" y="4937760"/>
            <a:ext cx="4937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FE870"/>
                </a:solidFill>
                <a:latin typeface="Courier New"/>
              </a:rPr>
              <a:t>/api/registrations/&lt;user_id&gt;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60" y="4937760"/>
            <a:ext cx="57607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Fetch events registered by a student for certificates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5367528"/>
            <a:ext cx="11887200" cy="429768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47472" y="5413248"/>
            <a:ext cx="868680" cy="3383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7472" y="5431536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98448" y="5431536"/>
            <a:ext cx="4937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FE870"/>
                </a:solidFill>
                <a:latin typeface="Courier New"/>
              </a:rPr>
              <a:t>/api/recommendations/&lt;user_id&gt;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0" y="5431536"/>
            <a:ext cx="57607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Get interest-weighted event recommendations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0040" y="5861304"/>
            <a:ext cx="11887200" cy="429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47472" y="5907024"/>
            <a:ext cx="868680" cy="3383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47472" y="5925312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8448" y="5925312"/>
            <a:ext cx="4937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FE870"/>
                </a:solidFill>
                <a:latin typeface="Courier New"/>
              </a:rPr>
              <a:t>/api/admin/stats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0" y="5925312"/>
            <a:ext cx="57607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Live dashboard metrics (events, reg, students)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" y="6355080"/>
            <a:ext cx="11887200" cy="429768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47472" y="6400800"/>
            <a:ext cx="868680" cy="33832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47472" y="6419088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98448" y="6419088"/>
            <a:ext cx="4937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FE870"/>
                </a:solidFill>
                <a:latin typeface="Courier New"/>
              </a:rPr>
              <a:t>/api/ai/generate-event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09360" y="6419088"/>
            <a:ext cx="57607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Gemini AI: generate full event JSON from rough prompt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FE870"/>
                </a:solidFill>
                <a:latin typeface="Calibri"/>
              </a:rPr>
              <a:t>Deployment &amp;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EFA"/>
                </a:solidFill>
                <a:latin typeface="Calibri"/>
              </a:rPr>
              <a:t>From local dev to cloud production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17320"/>
            <a:ext cx="5760720" cy="50292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54480"/>
            <a:ext cx="539495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CFE870"/>
                </a:solidFill>
                <a:latin typeface="Calibri"/>
              </a:rPr>
              <a:t>Local Development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FFFEFA"/>
                </a:solidFill>
                <a:latin typeface="Calibri"/>
              </a:rPr>
              <a:t>• 📦  Clone repository from GitHub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FFFEFA"/>
                </a:solidFill>
                <a:latin typeface="Calibri"/>
              </a:rPr>
              <a:t>• 📂  cd backend → pip install -r requirements.txt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FFFEFA"/>
                </a:solidFill>
                <a:latin typeface="Calibri"/>
              </a:rPr>
              <a:t>• 📝  Configure backend/.env with DATABASE_URL, GEMINI_API_KEY, BREVO_API_KEY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FFFEFA"/>
                </a:solidFill>
                <a:latin typeface="Calibri"/>
              </a:rPr>
              <a:t>• ▶  python app.py  (Flask runs on :5000)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FFFEFA"/>
                </a:solidFill>
                <a:latin typeface="Calibri"/>
              </a:rPr>
              <a:t>• 📂  cd frontend → npm install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FFFEFA"/>
                </a:solidFill>
                <a:latin typeface="Calibri"/>
              </a:rPr>
              <a:t>• ▶  npm run dev  (Vite runs on :5173)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FFFEFA"/>
                </a:solidFill>
                <a:latin typeface="Calibri"/>
              </a:rPr>
              <a:t>• 🌐  Vite proxies /api/* calls to Flask during local dev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417320"/>
            <a:ext cx="5577840" cy="50292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554480"/>
            <a:ext cx="5212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CFE870"/>
                </a:solidFill>
                <a:latin typeface="Calibri"/>
              </a:rPr>
              <a:t>Production Deployment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FFFEFA"/>
                </a:solidFill>
                <a:latin typeface="Calibri"/>
              </a:rPr>
              <a:t>• 🚀  Push to GitHub main branch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FFFEFA"/>
                </a:solidFill>
                <a:latin typeface="Calibri"/>
              </a:rPr>
              <a:t>• ☁  Vercel automatically deploys frontend &amp; backend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FFFEFA"/>
                </a:solidFill>
                <a:latin typeface="Calibri"/>
              </a:rPr>
              <a:t>• 🔑  Environment variables in Vercel settings: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FFFEFA"/>
                </a:solidFill>
                <a:latin typeface="Calibri"/>
              </a:rPr>
              <a:t>•       DATABASE_URL=postgresql://...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FFFEFA"/>
                </a:solidFill>
                <a:latin typeface="Calibri"/>
              </a:rPr>
              <a:t>•       GEMINI_API_KEY=...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FFFEFA"/>
                </a:solidFill>
                <a:latin typeface="Calibri"/>
              </a:rPr>
              <a:t>•       BREVO_API_KEY=xkeysib-...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FFFEFA"/>
                </a:solidFill>
                <a:latin typeface="Calibri"/>
              </a:rPr>
              <a:t>•       BREVO_SENDER_EMAIL=campus.circle.edu@gmail.com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FFFEFA"/>
                </a:solidFill>
                <a:latin typeface="Calibri"/>
              </a:rPr>
              <a:t>• 🗄  PostgreSQL hosted on Neon serverless cloud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>
                <a:solidFill>
                  <a:srgbClr val="CFE870"/>
                </a:solidFill>
                <a:latin typeface="Calibri"/>
              </a:rPr>
              <a:t>Thank You!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FFFEFA"/>
                </a:solidFill>
                <a:latin typeface="Calibri"/>
              </a:rPr>
              <a:t>Campus Circle — making campus life better, one event at a 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1645920" y="3017520"/>
            <a:ext cx="2743200" cy="6858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37360" y="3108960"/>
            <a:ext cx="2560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FE870"/>
                </a:solidFill>
                <a:latin typeface="Calibri"/>
              </a:rPr>
              <a:t>React + Vite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617720" y="3017520"/>
            <a:ext cx="2743200" cy="6858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59" y="3108960"/>
            <a:ext cx="2560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FE870"/>
                </a:solidFill>
                <a:latin typeface="Calibri"/>
              </a:rPr>
              <a:t>Flask API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3017520"/>
            <a:ext cx="2743200" cy="6858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0" y="3108960"/>
            <a:ext cx="2560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FE870"/>
                </a:solidFill>
                <a:latin typeface="Calibri"/>
              </a:rPr>
              <a:t>Neon 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45920" y="4023360"/>
            <a:ext cx="2743200" cy="6858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0" y="4114800"/>
            <a:ext cx="2560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FE870"/>
                </a:solidFill>
                <a:latin typeface="Calibri"/>
              </a:rPr>
              <a:t>Gemini 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17720" y="4023360"/>
            <a:ext cx="2743200" cy="6858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59" y="4114800"/>
            <a:ext cx="2560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FE870"/>
                </a:solidFill>
                <a:latin typeface="Calibri"/>
              </a:rPr>
              <a:t>Brevo Email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9520" y="4023360"/>
            <a:ext cx="2743200" cy="6858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0" y="4114800"/>
            <a:ext cx="2560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FE870"/>
                </a:solidFill>
                <a:latin typeface="Calibri"/>
              </a:rPr>
              <a:t>Attendee Rosters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0" y="6245352"/>
            <a:ext cx="121889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FE870"/>
                </a:solidFill>
                <a:latin typeface="Calibri"/>
              </a:rPr>
              <a:t>GitHub: Abhi7Prajapathi/Events  ·  Deployed on Vercel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</Words>
  <Application>Microsoft Office PowerPoint</Application>
  <PresentationFormat>Widescreen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Montserrat</vt:lpstr>
      <vt:lpstr>Poppins</vt:lpstr>
      <vt:lpstr>Office Theme</vt:lpstr>
      <vt:lpstr>PowerPoint Presentation</vt:lpstr>
    </vt:vector>
  </TitlesOfParts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Monika Kumaresan</dc:creator>
  <dc:description>generated using python-pptx</dc:description>
  <cp:lastModifiedBy>Abhi R Prajapathi</cp:lastModifiedBy>
  <cp:revision>1</cp:revision>
  <dcterms:created xsi:type="dcterms:W3CDTF">2013-01-27T09:14:16Z</dcterms:created>
  <dcterms:modified xsi:type="dcterms:W3CDTF">2026-10-23T16:10:18Z</dcterms:modified>
</cp:coreProperties>
</file>