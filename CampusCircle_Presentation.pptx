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</p:sldIdLst>
  <p:sldSz cx="12192000" cy="6858000"/>
  <p:notesSz cx="6858000" cy="9144000"/>
  <p:embeddedFontLst>
    <p:embeddedFont>
      <p:font typeface="Montserrat" panose="00000500000000000000" pitchFamily="2" charset="0"/>
      <p:regular r:id="rId3"/>
      <p:bold r:id="rId4"/>
    </p:embeddedFont>
    <p:embeddedFont>
      <p:font typeface="Poppins" panose="00000500000000000000" pitchFamily="2" charset="0"/>
      <p:regular r:id="rId5"/>
      <p:bold r:id="rId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" y="9525"/>
            <a:ext cx="12172950" cy="57150"/>
          </a:xfrm>
          <a:prstGeom prst="rect">
            <a:avLst/>
          </a:prstGeom>
          <a:solidFill>
            <a:srgbClr val="903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525" y="6791325"/>
            <a:ext cx="12172950" cy="57150"/>
          </a:xfrm>
          <a:prstGeom prst="rect">
            <a:avLst/>
          </a:prstGeom>
          <a:solidFill>
            <a:srgbClr val="903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2925" y="2639317"/>
            <a:ext cx="11106150" cy="1198215"/>
          </a:xfrm>
          <a:prstGeom prst="roundRect">
            <a:avLst>
              <a:gd name="adj" fmla="val 95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2925" y="5057626"/>
            <a:ext cx="706755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839075" y="5057626"/>
            <a:ext cx="3810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2925" y="3818483"/>
            <a:ext cx="11106150" cy="1905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2925" y="2639317"/>
            <a:ext cx="11106150" cy="1905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2925" y="2639317"/>
            <a:ext cx="76200" cy="1198215"/>
          </a:xfrm>
          <a:prstGeom prst="rect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30025" y="2639317"/>
            <a:ext cx="19050" cy="1198215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839075" y="6419701"/>
            <a:ext cx="3810000" cy="9525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39075" y="5057626"/>
            <a:ext cx="3810000" cy="9525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39075" y="5057626"/>
            <a:ext cx="47625" cy="13716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639550" y="5057626"/>
            <a:ext cx="9525" cy="1371600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15300" y="5643413"/>
            <a:ext cx="3295650" cy="466725"/>
          </a:xfrm>
          <a:prstGeom prst="roundRect">
            <a:avLst>
              <a:gd name="adj" fmla="val 16326"/>
            </a:avLst>
          </a:prstGeom>
          <a:solidFill>
            <a:srgbClr val="FFFBEB"/>
          </a:solidFill>
          <a:ln w="9525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1050" y="5571976"/>
            <a:ext cx="1562100" cy="657225"/>
          </a:xfrm>
          <a:prstGeom prst="roundRect">
            <a:avLst>
              <a:gd name="adj" fmla="val 16326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4574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1338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8102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428625"/>
            <a:ext cx="1828800" cy="76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485554" y="457200"/>
            <a:ext cx="8163520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75" b="1" i="0" u="none">
                <a:solidFill>
                  <a:srgbClr val="3B0764"/>
                </a:solidFill>
                <a:latin typeface="Montserrat"/>
              </a:rPr>
              <a:t>ER. PERUMAL MANIMEKALAI COLLEGE OF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4220" y="714375"/>
            <a:ext cx="3834854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75" b="1" i="0" u="none">
                <a:solidFill>
                  <a:srgbClr val="B45309"/>
                </a:solidFill>
                <a:latin typeface="Poppins"/>
              </a:rPr>
              <a:t>AN AUTONOMOUS INSTITUTION • HOSUR – 635 117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7535" y="942975"/>
            <a:ext cx="3741539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25" b="1" i="0" u="none">
                <a:solidFill>
                  <a:srgbClr val="6B21A8"/>
                </a:solidFill>
                <a:latin typeface="Poppins"/>
              </a:rPr>
              <a:t>DEPARTMENT OF INFORMATION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025" y="2925067"/>
            <a:ext cx="1042035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B45309"/>
                </a:solidFill>
                <a:latin typeface="Poppins"/>
              </a:rPr>
              <a:t>PROJECT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2025" y="3191767"/>
            <a:ext cx="7315200" cy="33586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35"/>
              </a:lnSpc>
            </a:pPr>
            <a:r>
              <a:rPr lang="en-IN" sz="2100" b="1" i="0" u="none">
                <a:solidFill>
                  <a:srgbClr val="1E1B4B"/>
                </a:solidFill>
                <a:latin typeface="Montserrat"/>
              </a:rPr>
              <a:t>Campus Circ</a:t>
            </a:r>
            <a:r>
              <a:rPr lang="en-IN" sz="2100" b="1">
                <a:solidFill>
                  <a:srgbClr val="1E1B4B"/>
                </a:solidFill>
                <a:latin typeface="Montserrat"/>
              </a:rPr>
              <a:t>le</a:t>
            </a:r>
            <a:endParaRPr sz="2100" b="1" i="0" u="none">
              <a:solidFill>
                <a:srgbClr val="1E1B4B"/>
              </a:solidFill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81050" y="5257651"/>
            <a:ext cx="66865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6B21A8"/>
                </a:solidFill>
                <a:latin typeface="Poppins"/>
              </a:rPr>
              <a:t>PRESENTED BY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300" y="5376713"/>
            <a:ext cx="33909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B45309"/>
                </a:solidFill>
                <a:latin typeface="Poppins"/>
              </a:rPr>
              <a:t>PROJECT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1937" y="5767238"/>
            <a:ext cx="376237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>
                <a:solidFill>
                  <a:srgbClr val="78350F"/>
                </a:solidFill>
                <a:latin typeface="Poppins"/>
              </a:rPr>
              <a:t>Sijal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038" y="5819557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Abhilash R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402682" y="5813189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Anbu </a:t>
            </a:r>
            <a:r>
              <a:rPr lang="en-IN" sz="1125" b="1">
                <a:solidFill>
                  <a:srgbClr val="3B0764"/>
                </a:solidFill>
                <a:latin typeface="Poppins"/>
              </a:rPr>
              <a:t>S</a:t>
            </a:r>
            <a:r>
              <a:rPr lang="en-IN" sz="1125" b="1" i="0" u="none">
                <a:solidFill>
                  <a:srgbClr val="3B0764"/>
                </a:solidFill>
                <a:latin typeface="Poppins"/>
              </a:rPr>
              <a:t>elvan K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114800" y="5803664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Dileep Kumar A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738812" y="5813189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 err="1">
                <a:solidFill>
                  <a:srgbClr val="3B0764"/>
                </a:solidFill>
                <a:latin typeface="Poppins"/>
              </a:rPr>
              <a:t>Aanandha</a:t>
            </a:r>
            <a:r>
              <a:rPr lang="en-IN" sz="1125" b="1" i="0" u="none">
                <a:solidFill>
                  <a:srgbClr val="3B0764"/>
                </a:solidFill>
                <a:latin typeface="Poppins"/>
              </a:rPr>
              <a:t> S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Problem Statement: Campus Coordination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Inefficiencies in traditional collegiate event communication &amp; attendance tracking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124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0" i="0">
                <a:solidFill>
                  <a:srgbClr val="143825"/>
                </a:solidFill>
                <a:latin typeface="Calibri"/>
              </a:rPr>
              <a:t>Across engineering colleges, student symposiums, placement drives, and technical workshops suffer from severe coordination friction. Information is scattered, attendance records are manual, and event coordinators lack real-time visibility into attendee enrollment.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06040"/>
            <a:ext cx="5669280" cy="157276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606040"/>
            <a:ext cx="5669280" cy="438912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267919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CFE870"/>
                </a:solidFill>
                <a:latin typeface="Calibri"/>
              </a:rPr>
              <a:t>Information Fragmentation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08960"/>
            <a:ext cx="5349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9FA"/>
                </a:solidFill>
                <a:latin typeface="Calibri"/>
              </a:rPr>
              <a:t>Announcements buried in crowded WhatsApp groups and printed notice boards lead to missed deadlines, poor participation, and student confusion regarding venue and prerequisites.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606040"/>
            <a:ext cx="5669280" cy="157276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606040"/>
            <a:ext cx="5669280" cy="438912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267919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CFE870"/>
                </a:solidFill>
                <a:latin typeface="Calibri"/>
              </a:rPr>
              <a:t>Manual Attendance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3108960"/>
            <a:ext cx="5349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9FA"/>
                </a:solidFill>
                <a:latin typeface="Calibri"/>
              </a:rPr>
              <a:t>Circulating paper attendance sheets during sessions is slow, prone to proxy signatures, easily misplaced, and requires tedious manual data entry for certification.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97680"/>
            <a:ext cx="5669280" cy="157276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4297680"/>
            <a:ext cx="5669280" cy="438912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437083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CFE870"/>
                </a:solidFill>
                <a:latin typeface="Calibri"/>
              </a:rPr>
              <a:t>Administrative Overhead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4800600"/>
            <a:ext cx="5349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9FA"/>
                </a:solidFill>
                <a:latin typeface="Calibri"/>
              </a:rPr>
              <a:t>Faculty coordinators spend hours manually compiling student lists, writing circular notices, designing participation certificates, and individually mailing entry passes.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297680"/>
            <a:ext cx="5669280" cy="157276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4297680"/>
            <a:ext cx="5669280" cy="438912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437083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CFE870"/>
                </a:solidFill>
                <a:latin typeface="Calibri"/>
              </a:rPr>
              <a:t>Lack of Verification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4800600"/>
            <a:ext cx="5349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9FA"/>
                </a:solidFill>
                <a:latin typeface="Calibri"/>
              </a:rPr>
              <a:t>Traditional paper certificates are easily reproduced or misplaced, lacking digital verification hashes, QR codes, or an institutional centralized registry.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172200"/>
            <a:ext cx="12188952" cy="182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0" y="62636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Department of Information Technology  ·  Er. Perumal Manimekalai College of Engineering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Proposed Solution: Campus Circle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A unified event catalog, registrar control suite, and verified credential ecosystem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124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8F9FA"/>
                </a:solidFill>
                <a:latin typeface="Calibri"/>
              </a:rPr>
              <a:t>Campus Circle provides an end-to-end institutional platform tailored for Er. Perumal Manimekalai College of Engineering. It unites discovery, 1-click registration, automated Brevo email delivery, Google Gemini AI drafting, and verifiable certificates.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606040"/>
            <a:ext cx="3749039" cy="17830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3749039" cy="438912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67919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Centralized Official Directory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08960"/>
            <a:ext cx="34930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9FA"/>
                </a:solidFill>
                <a:latin typeface="Calibri"/>
              </a:rPr>
              <a:t>Categorized event streams (Workshop, Technical, Cultural, Placement, Seminar) with live search and seat capacity meters.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2606040"/>
            <a:ext cx="3749039" cy="17830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2606040"/>
            <a:ext cx="3749039" cy="438912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67919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Automated Transactional Ticketing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108960"/>
            <a:ext cx="34930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9FA"/>
                </a:solidFill>
                <a:latin typeface="Calibri"/>
              </a:rPr>
              <a:t>Instant registration confirmation with automated Brevo email passes sent directly to students containing schedules and venues.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2606040"/>
            <a:ext cx="3749039" cy="17830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2606040"/>
            <a:ext cx="3749039" cy="438912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67919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Registrar &amp; Roster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108960"/>
            <a:ext cx="34930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9FA"/>
                </a:solidFill>
                <a:latin typeface="Calibri"/>
              </a:rPr>
              <a:t>Live attendee rosters per event with student names, registration numbers, departments, classes, and 1-click CSV attendance export.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526280"/>
            <a:ext cx="3749039" cy="17830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4526280"/>
            <a:ext cx="3749039" cy="438912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9943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AI-Powered Event Copywriting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029200"/>
            <a:ext cx="34930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9FA"/>
                </a:solidFill>
                <a:latin typeface="Calibri"/>
              </a:rPr>
              <a:t>Google Gemini AI generates professional event titles, agendas, category tags, and duration from brief coordinator prompts.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59" y="4526280"/>
            <a:ext cx="3749039" cy="17830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51959" y="4526280"/>
            <a:ext cx="3749039" cy="438912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59943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Verified Digital Credentials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029200"/>
            <a:ext cx="34930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9FA"/>
                </a:solidFill>
                <a:latin typeface="Calibri"/>
              </a:rPr>
              <a:t>Tamper-resistant digital participation certificates with authorized gold seal, QR verification code, and landscape A4 print readiness.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79" y="4526280"/>
            <a:ext cx="3749039" cy="17830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4526280"/>
            <a:ext cx="3749039" cy="438912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459943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Administrative Safeguards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5029200"/>
            <a:ext cx="34930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9FA"/>
                </a:solidFill>
                <a:latin typeface="Calibri"/>
              </a:rPr>
              <a:t>Role-based access control, safe student directory management, and a two-step typed confirmation challenge for bulk deletions.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System Architecture &amp; Decoupled Dataflow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High-performance client-server design with asynchronous cloud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103120"/>
            <a:ext cx="2377440" cy="164592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Student / Admin
Client Interface
(Mobile &amp; Desktop)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2103120"/>
            <a:ext cx="2377440" cy="164592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3317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React 18 + Vite
(SPA Client on Vercel)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03120"/>
            <a:ext cx="2377440" cy="164592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79" y="23317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Python Flask Backend
(REST API Services)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2103120"/>
            <a:ext cx="2377440" cy="164592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19" y="23317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Neon Cloud PostgreSQL
(Pooled DB Cluster)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2788920"/>
            <a:ext cx="411480" cy="6400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16936" y="26609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43825"/>
                </a:solidFill>
                <a:latin typeface="Calibri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23560" y="2788920"/>
            <a:ext cx="411480" cy="6400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6" y="26609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43825"/>
                </a:solidFill>
                <a:latin typeface="Calibri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411480" cy="6400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86216" y="26609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43825"/>
                </a:solidFill>
                <a:latin typeface="Calibri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69080"/>
            <a:ext cx="3474720" cy="173736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069080"/>
            <a:ext cx="3474720" cy="4114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4133088"/>
            <a:ext cx="32552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FE870"/>
                </a:solidFill>
                <a:latin typeface="Calibri"/>
              </a:rPr>
              <a:t>Google Gemini AI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4572000"/>
            <a:ext cx="325526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8F9FA"/>
                </a:solidFill>
                <a:latin typeface="Calibri"/>
              </a:rPr>
              <a:t>Generates structured event descriptions, schedules, and categories from rough coordinator prompts with multi-model fallback.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4069080"/>
            <a:ext cx="3749039" cy="173736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06240" y="4069080"/>
            <a:ext cx="3749039" cy="4114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15968" y="4133088"/>
            <a:ext cx="35295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FE870"/>
                </a:solidFill>
                <a:latin typeface="Calibri"/>
              </a:rPr>
              <a:t>Brevo Transactional Email (v3)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4572000"/>
            <a:ext cx="3529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8F9FA"/>
                </a:solidFill>
                <a:latin typeface="Calibri"/>
              </a:rPr>
              <a:t>Asynchronous background threading for immediate client response. Sends branded welcome emails and HTML event ticket passes.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4069080"/>
            <a:ext cx="3474720" cy="173736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4069080"/>
            <a:ext cx="3474720" cy="4114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0767" y="4133088"/>
            <a:ext cx="32552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FE870"/>
                </a:solidFill>
                <a:latin typeface="Calibri"/>
              </a:rPr>
              <a:t>GitHub Actions CI/CD Pipeline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7" y="4572000"/>
            <a:ext cx="325526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8F9FA"/>
                </a:solidFill>
                <a:latin typeface="Calibri"/>
              </a:rPr>
              <a:t>Automated regression testing on every push: Vite bundle build, 7 Flask unit tests, Docker container validation, and Vercel sync.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080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Decoupled architecture with background threading for immediate client response times and high concurrency.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Comprehensive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Enterprise-grade, open-source stack selected for speed, security, and developer ergonomics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749039" cy="2240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3749039" cy="47548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React 18 + 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34930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Single Page Application architecture with fast HMR, component modularity, custom SVG iconography, and responsive mobile viewport support.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463040"/>
            <a:ext cx="3749039" cy="2240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463040"/>
            <a:ext cx="3749039" cy="47548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554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Python 3.12 + Flask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057400"/>
            <a:ext cx="34930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REST API backend utilizing psycopg2 pooled connectors, early input validation, modular service decoupling, and background thread workers.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1463040"/>
            <a:ext cx="3749039" cy="2240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79" y="1463040"/>
            <a:ext cx="3749039" cy="47548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554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Neon Serverless 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57400"/>
            <a:ext cx="34930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Cloud-hosted relational database with auto-scaling connection pooling, strict foreign key constraints, and relational integrity.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931920"/>
            <a:ext cx="3749039" cy="2240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931920"/>
            <a:ext cx="3749039" cy="47548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0233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Google Gemini AI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26280"/>
            <a:ext cx="34930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Generative AI integration (gemini-3.5-flash / gemini-flash-latest) providing intelligent title generation, duration formatting, and copywriting.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931920"/>
            <a:ext cx="3749039" cy="2240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59" y="3931920"/>
            <a:ext cx="3749039" cy="47548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40233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Brevo Transactional Email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526280"/>
            <a:ext cx="34930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REST API v3 delivering responsive HTML transactional email passes and welcome credentials with asynchronous non-blocking dispatch.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79" y="3931920"/>
            <a:ext cx="3749039" cy="2240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3879" y="3931920"/>
            <a:ext cx="3749039" cy="47548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40233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GitHub Actions CI/CD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526280"/>
            <a:ext cx="34930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Automated continuous integration pipeline running frontend Vite builds, Flask test suites (7 passing unit tests), and Docker validation.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Relational Database Schema &amp; Foreign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Normalized PostgreSQL schema with cascade cleanup and relational indexing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3749039" cy="47548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CFE870"/>
                </a:solidFill>
                <a:latin typeface="Calibri"/>
              </a:rPr>
              <a:t>users (Student &amp; Admin Accounts)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892807"/>
            <a:ext cx="3749039" cy="457200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984248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id            SERIAL PRIMARY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404872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name          TEXT NOT NULL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825496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email         TEXT UNIQUE NOT NULL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3246120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password      TEXT NOT NULL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666744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reg_no        TEXT UNIQUE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4087368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department   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507992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class        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4928616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interests    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" y="5349240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role          TEXT DEFAULT 'student'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" y="5769864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created_at    TIMESTAMP DEFAULT NOW()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1417320"/>
            <a:ext cx="3749039" cy="47548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CFE870"/>
                </a:solidFill>
                <a:latin typeface="Calibri"/>
              </a:rPr>
              <a:t>events (Campus Catalog)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1959" y="1892807"/>
            <a:ext cx="3749039" cy="457200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6551" y="1984248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id            SERIAL PRIMARY 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1" y="2404872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title         TEXT NOT NULL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1" y="2825496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category     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1" y="3246120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date          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1" y="3666744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time          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1" y="4087368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venue         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6551" y="4507992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deadline      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1" y="4928616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description   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1" y="5349240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seats         INT DEFAULT 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1" y="5769864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image         TEXT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3879" y="1417320"/>
            <a:ext cx="3749039" cy="47548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CFE870"/>
                </a:solidFill>
                <a:latin typeface="Calibri"/>
              </a:rPr>
              <a:t>registrations (Enrollment Junction)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83879" y="1892807"/>
            <a:ext cx="3749039" cy="457200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48471" y="1984248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id            SERIAL PRIMARY KEY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8471" y="2404872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user_id       INT → users.id (CASCADE)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48471" y="2825496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event_id      INT → events.id (CASCADE)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48471" y="3246120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status        TEXT DEFAULT 'Confirmed'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1" y="3666744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created_at    TIMESTAMP DEFAULT NOW()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1" y="4087368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8471" y="4507992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UNIQUE(user_id, event_id)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48471" y="4928616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JOIN user_id → Attendee Roster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1" y="5349240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nsolas"/>
              </a:rPr>
              <a:t>Source for CSV Attendance Export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Core Backend Code: Flask API &amp; Registration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Robust parameter validation, connection pooling, and atomic transaction handling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6949440" cy="5029200"/>
          </a:xfrm>
          <a:prstGeom prst="rect">
            <a:avLst/>
          </a:prstGeom>
          <a:solidFill>
            <a:srgbClr val="0E2418"/>
          </a:solidFill>
          <a:ln w="12700">
            <a:solidFill>
              <a:srgbClr val="2D5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6949440" cy="38404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FE870"/>
                </a:solidFill>
                <a:latin typeface="Consolas"/>
              </a:rPr>
              <a:t>📄  backend/app.py — Atomic Registration Handler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6583679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>
                <a:solidFill>
                  <a:srgbClr val="D5F0CE"/>
                </a:solidFill>
                <a:latin typeface="Consolas"/>
              </a:rPr>
              <a:t>@app.route('/api/events/&lt;int:event_id&gt;/register', methods=['POST'])
def register_for_event(event_id):
    data = request.json or {}
    user_id = data.get('user_id')
    if not user_id:
        return jsonify({'error': 'user_id required'}), 400
    conn = get_db()
    with conn.cursor() as cur:
        # Check seat capacity against live enrollment count
        cur.execute("SELECT seats FROM events WHERE id = %s", (event_id,))
        ev = cur.fetchone()
        cur.execute("SELECT COUNT(*) FROM registrations WHERE event_id = %s", (event_id,))
        count = cur.fetchone()[0]
        if ev and count &gt;= ev['seats']:
            return jsonify({'error': 'Event is full'}), 400
        # Enforce unique registration per student
        cur.execute("""
            INSERT INTO registrations (user_id, event_id, status)
            VALUES (%s, %s, 'Confirmed')
            ON CONFLICT (user_id, event_id) DO NOTHING
            RETURNING id
        """, (user_id, event_id))
        reg = cur.fetchone()
        conn.commit()
    if not reg:
        return jsonify({'error': 'Already registered'}), 409
    # Trigger asynchronous transactional email ticket dispatch
    trigger_confirmation_email(user_id, event_id)
    return jsonify({'message': 'Registration confirmed', 'id': reg['id']})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417320"/>
            <a:ext cx="4343400" cy="502920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527048"/>
            <a:ext cx="4014215" cy="480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>
                <a:solidFill>
                  <a:srgbClr val="CFE870"/>
                </a:solidFill>
                <a:latin typeface="Calibri"/>
              </a:rPr>
              <a:t>Engineering Highlights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Atomic Seat Check: Validates remaining seat capacity before insertion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Duplicate Prevention: PostgreSQL UNIQUE(user_id, event_id) constraint returns HTTP 409 conflict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Connection Pooling: Safe thread-pooled PostgreSQL transactions using Neon DB connector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Non-blocking Dispatch: Asynchronously spawns Brevo email pass worker without delaying API response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Input Validation: Strict verification of user_id, event_id, and session authorization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Asynchronous Services Code: Brevo Email &amp; Gemini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Multi-model AI fallback prompt pipeline and background threading workers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6949440" cy="5029200"/>
          </a:xfrm>
          <a:prstGeom prst="rect">
            <a:avLst/>
          </a:prstGeom>
          <a:solidFill>
            <a:srgbClr val="0E2418"/>
          </a:solidFill>
          <a:ln w="12700">
            <a:solidFill>
              <a:srgbClr val="2D5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6949440" cy="38404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FE870"/>
                </a:solidFill>
                <a:latin typeface="Consolas"/>
              </a:rPr>
              <a:t>📄  backend/brevo_service.py — Asynchronous Email &amp; AI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6583679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>
                <a:solidFill>
                  <a:srgbClr val="D5F0CE"/>
                </a:solidFill>
                <a:latin typeface="Consolas"/>
              </a:rPr>
              <a:t>def send_brevo_email_async(to_email, to_name, subject, html_content):
    """Dispatches transactional emails via background thread."""
    def worker():
        api_key, sender_email, sender_name = get_brevo_config()
        payload = {
            "sender": {"name": sender_name, "email": sender_email},
            "to": [{"email": to_email, "name": to_name}],
            "subject": subject,
            "htmlContent": html_content
        }
        resp = requests.post(
            "https://api.brevo.com/v3/smtp/email",
            headers={"api-key": api_key, "Content-Type": "application/json"},
            json=payload, timeout=10
        )
        return resp.status_code == 201
    threading.Thread(target=worker, daemon=True).start()
def generate_event_with_gemini(prompt):
    """Fallback architecture across Google Gemini models."""
    for model_name in ['gemini-3.5-flash', 'gemini-flash-latest']:
        try:
            model = genai.GenerativeModel(model_name)
            resp = model.generate_content(SYSTEM_PROMPT + prompt)
            return json.loads(clean_json(resp.text))
        except Exception:
            continue
    return fallback_template(prompt)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417320"/>
            <a:ext cx="4343400" cy="50292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527048"/>
            <a:ext cx="4014215" cy="480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>
                <a:solidFill>
                  <a:srgbClr val="CFE870"/>
                </a:solidFill>
                <a:latin typeface="Calibri"/>
              </a:rPr>
              <a:t>Service Architecture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Non-blocking Threading: Python daemon threads dispatch Brevo emails asynchronously, keeping UI response times under 50ms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Zero Third-party Clutter: Clean college-branded email templates with no Brevo promotional tags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Multi-Model AI Resilience: Automatically fails over between gemini-3.5-flash and gemini-flash-latest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Structured JSON Generation: Forces structured output matching title, category, date, venue, and description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Production Tested: Verified with unit tests covering API keys and HTML templating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Frontend Architecture: React Component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Single Page Application state management, optimistic UI updates, and responsive rendering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6949440" cy="5029200"/>
          </a:xfrm>
          <a:prstGeom prst="rect">
            <a:avLst/>
          </a:prstGeom>
          <a:solidFill>
            <a:srgbClr val="0E2418"/>
          </a:solidFill>
          <a:ln w="12700">
            <a:solidFill>
              <a:srgbClr val="2D5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6949440" cy="38404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FE870"/>
                </a:solidFill>
                <a:latin typeface="Consolas"/>
              </a:rPr>
              <a:t>📄  frontend/src/main.jsx — Client State &amp; Event Filtering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6583679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>
                <a:solidFill>
                  <a:srgbClr val="D5F0CE"/>
                </a:solidFill>
                <a:latin typeface="Consolas"/>
              </a:rPr>
              <a:t>// Centralized API Wrapper with unified error normalization
const api = (path, opts = {}) =&gt;
  fetch('/api' + path, {
    headers: { 'Content-Type': 'application/json' },
    ...opts,
  }).then(async (r) =&gt; {
    let d = await r.json();
    if (!r.ok) throw new Error(d.error || 'Request failed');
    return d;
  });
// Optimistic Registration Handler with Instant Feedback
const enroll = async (id) =&gt; {
  if (!user) { setModal(true); return; }
  try {
    await api(`/events/${id}/register`, {
      method: 'POST',
      body: JSON.stringify({ user_id: user.id }),
    });
    notify("Registered — confirmation email sent!", 'success');
    refresh(); // Sync live seat totals
  } catch (e) {
    notify(e.message, 'error');
  }
};
// Real-Time Category Filtering &amp; Search Matching
const filtered = events.filter(e =&gt; {
  const matchCat = category === 'All' || e.category === category;
  const matchQuery = !q || e.title.toLowerCase().includes(q.toLowerCase())
    || (e.venue &amp;&amp; e.venue.toLowerCase().includes(q.toLowerCase()));
  return matchCat &amp;&amp; matchQuery;
});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417320"/>
            <a:ext cx="4343400" cy="502920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527048"/>
            <a:ext cx="4014215" cy="480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>
                <a:solidFill>
                  <a:srgbClr val="CFE870"/>
                </a:solidFill>
                <a:latin typeface="Calibri"/>
              </a:rPr>
              <a:t>Client Design Highlights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Optimistic State Updates: Instant toast notifications and state sync upon registration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Clean Typography: Newsreader editorial headings paired with Inter UI and DM Mono identifiers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Responsive Vector Iconography: Monochrome SVGs replace cartoon emojis for clean academic prestige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Live Search &amp; Filter: Combined category pills (All, Workshop, Technical, etc.) with real-time text querying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Session Persistence: Client-side role hydration for seamless student and administrator switching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Official Certificate Verification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Gold medallion seal, digital QR verification, authorized signatory, and print CSS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6949440" cy="5029200"/>
          </a:xfrm>
          <a:prstGeom prst="rect">
            <a:avLst/>
          </a:prstGeom>
          <a:solidFill>
            <a:srgbClr val="0E2418"/>
          </a:solidFill>
          <a:ln w="12700">
            <a:solidFill>
              <a:srgbClr val="2D5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6949440" cy="38404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FE870"/>
                </a:solidFill>
                <a:latin typeface="Consolas"/>
              </a:rPr>
              <a:t>📄  frontend/src/main.jsx — CertificateModal Component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6583679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>
                <a:solidFill>
                  <a:srgbClr val="D5F0CE"/>
                </a:solidFill>
                <a:latin typeface="Consolas"/>
              </a:rPr>
              <a:t>function CertificateModal({ cert, user, onClose }) {
  return (
    &lt;div className="fixed inset-0 z-[100] bg-black/60 p-4 flex justify-center overflow-y-auto"&gt;
      &lt;div className="w-full max-w-[960px] bg-white border border-[#cfd6d1] relative flex flex-row"&gt;
        {/* Left Collegiate Emerald Stripe */}
        &lt;div className="w-5 sm:w-8 bg-[#183d28] shrink-0" /&gt;
        &lt;div className="flex-1 p-6 sm:p-9 bg-white"&gt;
          {/* Header with Gold Medallion &amp; QR Code */}
          &lt;div className="flex items-start justify-between"&gt;
            &lt;h1 className="font-sans text-2xl font-extrabold uppercase text-[#172b20]"&gt;
              DISTRIBUTOR CERTIFICATE
            &lt;/h1&gt;
            &lt;div className="flex items-center gap-3"&gt;
              &lt;GoldMedallionBadge className="w-16 h-16" /&gt;
              &lt;GreenQRCode className="w-14 h-14" /&gt;
            &lt;/div&gt;
          &lt;/div&gt;
          {/* Student Recipient — Clean, Zero Bracket Artifacts */}
          &lt;p className="text-xs text-[#5b6e62] mt-4"&gt;This certifies that&lt;/p&gt;
          &lt;h2 className="text-3xl sm:text-4xl font-bold text-[#183d28]"&gt;{user.name}&lt;/h2&gt;
          {/* Authorized Event Details &amp; College Affiliation */}
          &lt;div className="mt-4 p-4 border border-[#3b82f6] bg-[#fcfdff] text-xs"&gt;
            Authorized Participant for &lt;strong&gt;{cert.title}&lt;/strong&gt; under 
            &lt;strong&gt; Campus Circle&lt;/strong&gt; event catalog at Er. Perumal Manimekalai College.
          &lt;/div&gt;
          {/* Integrated Real Signature Graphic */}
          &lt;div className="flex justify-end mt-6"&gt;
            &lt;div className="text-center w-52"&gt;
              &lt;img src="/signature.png" alt="Signature" className="h-16 mx-auto" /&gt;
              &lt;div className="border-t border-[#183d28]/35 pt-1"&gt;
                &lt;p className="text-xs font-bold text-[#183d28] uppercase"&gt;Abhilash R&lt;/p&gt;
                &lt;p className="text-[10px] text-[#5b6e62] uppercase"&gt;Authorized Signatory&lt;/p&gt;
              &lt;/div&gt;
            &lt;/div&gt;
          &lt;/div&gt;
        &lt;/div&gt;
      &lt;/div&gt;
    &lt;/div&gt;
  );
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417320"/>
            <a:ext cx="4343400" cy="50292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527048"/>
            <a:ext cx="4014215" cy="480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>
                <a:solidFill>
                  <a:srgbClr val="CFE870"/>
                </a:solidFill>
                <a:latin typeface="Calibri"/>
              </a:rPr>
              <a:t>Credential Highlights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Authentic Signatory: Directly embeds Abhilash R's authorized signature graphic (/signature.png)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Clean Typography: Removed all bracket placeholders [...] for true academic credential prestige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Digital Verification: Embedded SVG Gold Medallion (Authorized 2026) and green QR code hash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A4 Landscape Print Rules: Uses @page { size: landscape; margin: 8mm; } to produce perfect PDF exports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Mobile Adaptive: Flexbox layouts adapt dynamically to any smartphone or tablet screen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Live Demonstration: Student Event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Editorial collegiate masthead, category filter pills, real-time seat tracking, and classic brand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7498079" cy="4892040"/>
          </a:xfrm>
          <a:prstGeom prst="rect">
            <a:avLst/>
          </a:prstGeom>
          <a:solidFill>
            <a:srgbClr val="FFFFFF"/>
          </a:solidFill>
          <a:ln w="19050">
            <a:solidFill>
              <a:srgbClr val="CFE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talog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435608"/>
            <a:ext cx="7461504" cy="48554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46720" y="1417320"/>
            <a:ext cx="3794760" cy="489204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527048"/>
            <a:ext cx="3465576" cy="4672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FE870"/>
                </a:solidFill>
                <a:latin typeface="Calibri"/>
              </a:rPr>
              <a:t>Catalog Highlights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Classic Brand Identity: Circular dark badge with lime Playfair serif 'c' and 'campuscircle' wordmark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Live Filter Pills: 1-click filtering across Workshop, Technical, Cultural, Placement, and Seminar with live event counts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Instant Search: Real-time query matching on event titles, department, and campus venues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Seat Availability Meters: Real-time seat progress bars indicating remaining spots (e.g., '41 left', '118 left')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Tactile Buttons: Deep collegiate emerald (#143825) action buttons with crisp hover micro-interactions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Live Demonstration: Admin Attendee Roster &amp;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Real-time attendee directory, 1-click CSV attendance export, and student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7498079" cy="4892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4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dmin_roster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435608"/>
            <a:ext cx="7461504" cy="48554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46720" y="1417320"/>
            <a:ext cx="3794760" cy="48920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527048"/>
            <a:ext cx="3465576" cy="4672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FE870"/>
                </a:solidFill>
                <a:latin typeface="Calibri"/>
              </a:rPr>
              <a:t>Roster Capabilities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Live Enrollment Tally: Displays real-time enrolled student count vs maximum venue capacity ('5 of 45 seats enrolled')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Comprehensive Student Data: Tables render Student Name, Register Number (e.g. 610825BIT001), Department &amp; Class, and Email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1-Click CSV Export: Instantly downloads complete attendance roster in CSV format for offline grading and faculty records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Attendance Toggling: Coordinators can verify presence with one click, updating attendance records in real time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Student Record Removal: Individual enrollment cancellation for seat quota re-allocation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Live Demonstration: Verified Digital Credential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Official distributor layout, gold medallion seal of excellence, QR verification, and real signature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7498079" cy="4892040"/>
          </a:xfrm>
          <a:prstGeom prst="rect">
            <a:avLst/>
          </a:prstGeom>
          <a:solidFill>
            <a:srgbClr val="FFFFFF"/>
          </a:solidFill>
          <a:ln w="19050">
            <a:solidFill>
              <a:srgbClr val="CFE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ertificate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435608"/>
            <a:ext cx="7461504" cy="48554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46720" y="1417320"/>
            <a:ext cx="3794760" cy="489204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527048"/>
            <a:ext cx="3465576" cy="4672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FE870"/>
                </a:solidFill>
                <a:latin typeface="Calibri"/>
              </a:rPr>
              <a:t>Credential Highlights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Zero Bracket Placeholders: Pure, clean typography rendering student recipient and event details seamlessly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Authentic Signature: High-resolution authorized signature image for Abhilash R, Authorized Signatory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Security Medallion: 2026 Gold Medallion seal of excellence engraved with authorized star emblems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Digital Verification: Green QR code links credential to the official campus registry database record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Direct PDF Export: Built-in 'Print / Save PDF' button formatted for landscape A4 output via browser engine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Automated CI/CD Pipeline &amp; Quality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GitHub Actions workflow (.github/workflows/ci.yml) validating builds, unit tests, and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6949440" cy="5029200"/>
          </a:xfrm>
          <a:prstGeom prst="rect">
            <a:avLst/>
          </a:prstGeom>
          <a:solidFill>
            <a:srgbClr val="0E2418"/>
          </a:solidFill>
          <a:ln w="12700">
            <a:solidFill>
              <a:srgbClr val="2D5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6949440" cy="38404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FE870"/>
                </a:solidFill>
                <a:latin typeface="Consolas"/>
              </a:rPr>
              <a:t>📄  .github/workflows/ci.yml — Automated CI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6583679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>
                <a:solidFill>
                  <a:srgbClr val="D5F0CE"/>
                </a:solidFill>
                <a:latin typeface="Consolas"/>
              </a:rPr>
              <a:t># .github/workflows/ci.yml excerpt
name: Campus Circle CI/CD Pipeline
on: [push, pull_request]
jobs:
  frontend-ci:
    name: Frontend Validation &amp; Build
    runs-on: ubuntu-latest
    steps:
      - uses: actions/checkout@v4
      - uses: actions/setup-node@v4
        with: { node-version: 20, cache: 'npm' }
      - run: npm install &amp;&amp; npm run build
      - run: test -d dist &amp;&amp; test -f dist/index.html
  backend-ci:
    name: Python Backend Tests &amp; Lint
    runs-on: ubuntu-latest
    steps:
      - uses: actions/checkout@v4
      - uses: actions/setup-python@v5
        with: { python-version: '3.12' }
      - run: pip install -r backend/requirements.txt
      - run: python -m unittest discover backend/tests
      # 7/7 Unit Tests Passing (0.045s execution)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417320"/>
            <a:ext cx="4343400" cy="50292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527048"/>
            <a:ext cx="4014215" cy="480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>
                <a:solidFill>
                  <a:srgbClr val="CFE870"/>
                </a:solidFill>
                <a:latin typeface="Calibri"/>
              </a:rPr>
              <a:t>DevOps Capabilities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Automated Regression Testing: Runs on every commit and PR to 'main' branch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Frontend Build Validation: Ensures Vite production build completes without syntax or bundle errors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Backend Test Suite: 7 unit test cases validate Flask routes, email templating, input sanitization, and DB fallbacks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Sub-Second Test Speed: Full unit test suite executes in 0.045 seconds for instantaneous feedback</a:t>
            </a:r>
          </a:p>
          <a:p>
            <a:pPr algn="l">
              <a:spcBef>
                <a:spcPts val="300"/>
              </a:spcBef>
            </a:pPr>
            <a:r>
              <a:rPr sz="1350">
                <a:solidFill>
                  <a:srgbClr val="F8F9FA"/>
                </a:solidFill>
                <a:latin typeface="Calibri"/>
              </a:rPr>
              <a:t>• Zero-Downtime Deployment: Passing commits deploy automatically to Vercel production edge network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Security Architecture &amp; Administrative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Data privacy, parameterized queries, connection pooling, and destructive action challenges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669280" cy="214884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669280" cy="47548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🛡️  Two-Step Typed Confirmation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011680"/>
            <a:ext cx="5349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Bulk user deletion is protected by an explicit two-step typed confirmation modal. Admins must enter 'DELETE ALL USERS' to unlock the deletion trigger, eliminating catastrophic accidental data wipes.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669280" cy="214884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417320"/>
            <a:ext cx="5669280" cy="47548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🔑  Role-Based Access Control (RBAC)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011680"/>
            <a:ext cx="5349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Strict authorization enforcement across routes. Only validated administrators can access student directories, publish/edit events, or export rosters. Students are restricted to personal enrollments.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03320"/>
            <a:ext cx="5669280" cy="214884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5669280" cy="47548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79475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🔒  SQL Injection &amp; Parameterization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4297680"/>
            <a:ext cx="5349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All database queries utilize parameterized SQL (%s tokens) executed via psycopg2 cursor contexts, neutralizing SQL injection vectors across user inputs and search queries.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703320"/>
            <a:ext cx="5669280" cy="214884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703320"/>
            <a:ext cx="5669280" cy="475488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79475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⚡  Connection Pooling &amp; Concurrency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4297680"/>
            <a:ext cx="5349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Neon cloud database connections are managed with pooled connection strings. Relational foreign key constraints with ON DELETE CASCADE guarantee database referential integrity.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172200"/>
            <a:ext cx="12188952" cy="182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0" y="62636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Compliant with institutional academic privacy standards  ·  Er. Perumal Manimekalai College of Engineering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FE870"/>
                </a:solidFill>
                <a:latin typeface="Calibri"/>
              </a:rPr>
              <a:t>Campus Circle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Official Event Management &amp; Credential Verification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0" i="1">
                <a:solidFill>
                  <a:srgbClr val="F8F9FA"/>
                </a:solidFill>
                <a:latin typeface="Calibri"/>
              </a:rPr>
              <a:t>Department of Information Technology · Er. Perumal Manimekalai College of Engineering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14600"/>
            <a:ext cx="251460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2432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React 18 + Vite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2514600"/>
            <a:ext cx="251460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262432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Flask REST 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2514600"/>
            <a:ext cx="251460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262432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Neon PostgreSQL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23960" y="2514600"/>
            <a:ext cx="251460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262432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Gemini AI Assistant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383280"/>
            <a:ext cx="251460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9300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Brevo Email Passes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9000" y="3383280"/>
            <a:ext cx="251460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49300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Attendee Rosters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3383280"/>
            <a:ext cx="251460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349300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CSV Attendance Export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23960" y="3383280"/>
            <a:ext cx="251460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0" y="349300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Admin Bulk Deletion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251960"/>
            <a:ext cx="251460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36168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GitHub Actions CI/CD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9000" y="4251960"/>
            <a:ext cx="251460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36168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Verified QR Certificates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4251960"/>
            <a:ext cx="251460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436168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Signature Integration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23960" y="4251960"/>
            <a:ext cx="251460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0" y="436168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Zero-Bracket Typography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5349240"/>
            <a:ext cx="12188952" cy="1508760"/>
          </a:xfrm>
          <a:prstGeom prst="rect">
            <a:avLst/>
          </a:prstGeom>
          <a:solidFill>
            <a:srgbClr val="0A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0" y="548640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FE870"/>
                </a:solidFill>
                <a:latin typeface="Calibri"/>
              </a:rPr>
              <a:t>🌐  Live Platform: https://campuscirclepmc.vercel.app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0" y="58521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💻  GitHub Repository: https://github.com/Abhi7Prajapathi/Events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0" y="62636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8F9FA"/>
                </a:solidFill>
                <a:latin typeface="Calibri"/>
              </a:rPr>
              <a:t>Thank you! Open for questions and live interactive demonstration.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Montserrat</vt:lpstr>
      <vt:lpstr>Poppins</vt:lpstr>
      <vt:lpstr>Office Theme</vt:lpstr>
      <vt:lpstr>PowerPoint Presentation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Monika Kumaresan</dc:creator>
  <dc:description>generated using python-pptx</dc:description>
  <cp:lastModifiedBy>Abhi R Prajapathi</cp:lastModifiedBy>
  <cp:revision>1</cp:revision>
  <dcterms:created xsi:type="dcterms:W3CDTF">2013-01-27T09:14:16Z</dcterms:created>
  <dcterms:modified xsi:type="dcterms:W3CDTF">2026-10-23T16:10:18Z</dcterms:modified>
</cp:coreProperties>
</file>