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embeddedFontLst>
    <p:embeddedFont>
      <p:font typeface="Montserrat" panose="00000500000000000000" pitchFamily="2" charset="0"/>
      <p:regular r:id="rId3"/>
      <p:bold r:id="rId4"/>
    </p:embeddedFont>
    <p:embeddedFont>
      <p:font typeface="Poppins" panose="00000500000000000000" pitchFamily="2" charset="0"/>
      <p:regular r:id="rId5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525" y="9525"/>
            <a:ext cx="12172950" cy="57150"/>
          </a:xfrm>
          <a:prstGeom prst="rect">
            <a:avLst/>
          </a:prstGeom>
          <a:solidFill>
            <a:srgbClr val="903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25" y="6791325"/>
            <a:ext cx="12172950" cy="57150"/>
          </a:xfrm>
          <a:prstGeom prst="rect">
            <a:avLst/>
          </a:prstGeom>
          <a:solidFill>
            <a:srgbClr val="903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2925" y="2639317"/>
            <a:ext cx="11106150" cy="1198215"/>
          </a:xfrm>
          <a:prstGeom prst="roundRect">
            <a:avLst>
              <a:gd name="adj" fmla="val 95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2925" y="5057626"/>
            <a:ext cx="70675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39075" y="5057626"/>
            <a:ext cx="38100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3818483"/>
            <a:ext cx="11106150" cy="1905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2639317"/>
            <a:ext cx="11106150" cy="1905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2639317"/>
            <a:ext cx="76200" cy="1198215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630025" y="2639317"/>
            <a:ext cx="19050" cy="1198215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39075" y="6419701"/>
            <a:ext cx="3810000" cy="9525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39075" y="5057626"/>
            <a:ext cx="3810000" cy="9525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39075" y="5057626"/>
            <a:ext cx="47625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639550" y="5057626"/>
            <a:ext cx="9525" cy="1371600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5300" y="5643413"/>
            <a:ext cx="3295650" cy="466725"/>
          </a:xfrm>
          <a:prstGeom prst="roundRect">
            <a:avLst>
              <a:gd name="adj" fmla="val 16326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1050" y="5571976"/>
            <a:ext cx="1562100" cy="657225"/>
          </a:xfrm>
          <a:prstGeom prst="roundRect">
            <a:avLst>
              <a:gd name="adj" fmla="val 16326"/>
            </a:avLst>
          </a:prstGeom>
          <a:solidFill>
            <a:srgbClr val="FAF5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457450" y="5543401"/>
            <a:ext cx="1562100" cy="685800"/>
          </a:xfrm>
          <a:prstGeom prst="roundRect">
            <a:avLst>
              <a:gd name="adj" fmla="val 11111"/>
            </a:avLst>
          </a:prstGeom>
          <a:solidFill>
            <a:srgbClr val="FAF5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33850" y="5543401"/>
            <a:ext cx="1562100" cy="685800"/>
          </a:xfrm>
          <a:prstGeom prst="roundRect">
            <a:avLst>
              <a:gd name="adj" fmla="val 11111"/>
            </a:avLst>
          </a:prstGeom>
          <a:solidFill>
            <a:srgbClr val="FAF5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810250" y="5543401"/>
            <a:ext cx="1562100" cy="685800"/>
          </a:xfrm>
          <a:prstGeom prst="roundRect">
            <a:avLst>
              <a:gd name="adj" fmla="val 11111"/>
            </a:avLst>
          </a:prstGeom>
          <a:solidFill>
            <a:srgbClr val="FAF5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28625"/>
            <a:ext cx="1828800" cy="76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85554" y="457200"/>
            <a:ext cx="816352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75" b="1" i="0" u="none">
                <a:solidFill>
                  <a:srgbClr val="3B0764"/>
                </a:solidFill>
                <a:latin typeface="Montserrat"/>
              </a:rPr>
              <a:t>ER. PERUMAL MANIMEKALAI COLLEGE OF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4220" y="714375"/>
            <a:ext cx="383485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75" b="1" i="0" u="none">
                <a:solidFill>
                  <a:srgbClr val="B45309"/>
                </a:solidFill>
                <a:latin typeface="Poppins"/>
              </a:rPr>
              <a:t>AN AUTONOMOUS INSTITUTION • HOSUR – 635 117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7535" y="942975"/>
            <a:ext cx="374153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25" b="1" i="0" u="none">
                <a:solidFill>
                  <a:srgbClr val="6B21A8"/>
                </a:solidFill>
                <a:latin typeface="Poppins"/>
              </a:rPr>
              <a:t>DEPARTMENT OF INFORMATION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2925067"/>
            <a:ext cx="10420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Poppins"/>
              </a:rPr>
              <a:t>PROJECT 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025" y="3191767"/>
            <a:ext cx="7315200" cy="3358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IN" sz="2100" b="1" i="0" u="none">
                <a:solidFill>
                  <a:srgbClr val="1E1B4B"/>
                </a:solidFill>
                <a:latin typeface="Montserrat"/>
              </a:rPr>
              <a:t>Campus Circ</a:t>
            </a:r>
            <a:r>
              <a:rPr lang="en-IN" sz="2100" b="1">
                <a:solidFill>
                  <a:srgbClr val="1E1B4B"/>
                </a:solidFill>
                <a:latin typeface="Montserrat"/>
              </a:rPr>
              <a:t>le</a:t>
            </a:r>
            <a:endParaRPr sz="2100" b="1" i="0" u="none">
              <a:solidFill>
                <a:srgbClr val="1E1B4B"/>
              </a:solidFill>
              <a:latin typeface="Montserra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1050" y="5257651"/>
            <a:ext cx="6686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Poppins"/>
              </a:rPr>
              <a:t>PRESENTED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5300" y="5376713"/>
            <a:ext cx="3390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45309"/>
                </a:solidFill>
                <a:latin typeface="Poppins"/>
              </a:rPr>
              <a:t>PROJECT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1937" y="5767238"/>
            <a:ext cx="37623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125" b="1">
                <a:solidFill>
                  <a:srgbClr val="78350F"/>
                </a:solidFill>
                <a:latin typeface="Poppins"/>
              </a:rPr>
              <a:t>Sijal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038" y="5819557"/>
            <a:ext cx="1690687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125" b="1" i="0" u="none">
                <a:solidFill>
                  <a:srgbClr val="3B0764"/>
                </a:solidFill>
                <a:latin typeface="Poppins"/>
              </a:rPr>
              <a:t>Abhilash R</a:t>
            </a:r>
            <a:endParaRPr sz="1125" b="1" i="0" u="none">
              <a:solidFill>
                <a:srgbClr val="3B0764"/>
              </a:solidFill>
              <a:latin typeface="Poppi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02682" y="5813189"/>
            <a:ext cx="1690687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125" b="1" i="0" u="none">
                <a:solidFill>
                  <a:srgbClr val="3B0764"/>
                </a:solidFill>
                <a:latin typeface="Poppins"/>
              </a:rPr>
              <a:t>Anbu </a:t>
            </a:r>
            <a:r>
              <a:rPr lang="en-IN" sz="1125" b="1">
                <a:solidFill>
                  <a:srgbClr val="3B0764"/>
                </a:solidFill>
                <a:latin typeface="Poppins"/>
              </a:rPr>
              <a:t>S</a:t>
            </a:r>
            <a:r>
              <a:rPr lang="en-IN" sz="1125" b="1" i="0" u="none">
                <a:solidFill>
                  <a:srgbClr val="3B0764"/>
                </a:solidFill>
                <a:latin typeface="Poppins"/>
              </a:rPr>
              <a:t>elvan K</a:t>
            </a:r>
            <a:endParaRPr sz="1125" b="1" i="0" u="none">
              <a:solidFill>
                <a:srgbClr val="3B0764"/>
              </a:solidFill>
              <a:latin typeface="Poppi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14800" y="5803664"/>
            <a:ext cx="1690687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125" b="1" i="0" u="none">
                <a:solidFill>
                  <a:srgbClr val="3B0764"/>
                </a:solidFill>
                <a:latin typeface="Poppins"/>
              </a:rPr>
              <a:t>Dileep Kumar A</a:t>
            </a:r>
            <a:endParaRPr sz="1125" b="1" i="0" u="none">
              <a:solidFill>
                <a:srgbClr val="3B0764"/>
              </a:solidFill>
              <a:latin typeface="Poppi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38812" y="5813189"/>
            <a:ext cx="1690687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125" b="1" i="0" u="none" err="1">
                <a:solidFill>
                  <a:srgbClr val="3B0764"/>
                </a:solidFill>
                <a:latin typeface="Poppins"/>
              </a:rPr>
              <a:t>Aanandha</a:t>
            </a:r>
            <a:r>
              <a:rPr lang="en-IN" sz="1125" b="1" i="0" u="none">
                <a:solidFill>
                  <a:srgbClr val="3B0764"/>
                </a:solidFill>
                <a:latin typeface="Poppins"/>
              </a:rPr>
              <a:t> S</a:t>
            </a:r>
            <a:endParaRPr sz="1125" b="1" i="0" u="none">
              <a:solidFill>
                <a:srgbClr val="3B0764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FE870"/>
                </a:solidFill>
                <a:latin typeface="Calibri"/>
              </a:rPr>
              <a:t>Problem Statement &amp;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8F9FA"/>
                </a:solidFill>
                <a:latin typeface="Calibri"/>
              </a:rPr>
              <a:t>Bridging collegiate event communication gaps with an integrated academic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457200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5248655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CFE870"/>
                </a:solidFill>
                <a:latin typeface="Calibri"/>
              </a:rPr>
              <a:t>Existing Challenges &amp; Bottlenecks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Information Fragmentation: Circulars scattered across WhatsApp groups and paper boards lead to low student turnout and missed deadlines.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Manual Attendance Rosters: Paper sign-in sheets cause delays, proxy attendance, lost records, and tedious data compilation.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Administrative Burden: Faculty coordinators spend excessive hours drafting notices, tracking seat counts, and managing rosters.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Unverified Credentials: Traditional printed certificates lack digital validation, centralized IDs, or QR verification.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457200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5248655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CFE870"/>
                </a:solidFill>
                <a:latin typeface="Calibri"/>
              </a:rPr>
              <a:t>The Campus Circle Solution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Centralized Event Catalog: Real-time discovery across Workshop, Technical, Cultural, Placement, and Seminar categories.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Automated 1-Click Ticketing: Instant student registration with automated Brevo transactional email passes.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Registrar Control Suite: Live attendee rosters, 1-click CSV attendance export, and safe two-step student deletion.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Verified Digital Credentials: Official certificates with authorized gold medallion, QR code, and landscape A4 print styling.</a:t>
            </a:r>
          </a:p>
          <a:p>
            <a:pPr algn="l">
              <a:spcBef>
                <a:spcPts val="300"/>
              </a:spcBef>
            </a:pPr>
            <a:r>
              <a:rPr sz="1350">
                <a:solidFill>
                  <a:srgbClr val="F8F9FA"/>
                </a:solidFill>
                <a:latin typeface="Calibri"/>
              </a:rPr>
              <a:t>• Google Gemini AI Assistant: Automated event copywriting, schedule formatting, and category generation from coordinator prompts.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88952" cy="18288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Department of Information Technology  ·  Er. Perumal Manimekalai College of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FE870"/>
                </a:solidFill>
                <a:latin typeface="Calibri"/>
              </a:rPr>
              <a:t>System Architecture &amp; Decoupled Dataflow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8F9FA"/>
                </a:solidFill>
                <a:latin typeface="Calibri"/>
              </a:rPr>
              <a:t>Decoupled client-server architecture with asynchronous cloud service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377440" cy="164592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FE870"/>
                </a:solidFill>
                <a:latin typeface="Calibri"/>
              </a:rPr>
              <a:t>Student / Admin
Client Interface
(Mobile &amp; Desktop)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011680"/>
            <a:ext cx="2377440" cy="164592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40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FE870"/>
                </a:solidFill>
                <a:latin typeface="Calibri"/>
              </a:rPr>
              <a:t>React 18 + Vite
(SPA on Vercel Edge)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2377440" cy="164592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240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FE870"/>
                </a:solidFill>
                <a:latin typeface="Calibri"/>
              </a:rPr>
              <a:t>Python Flask Backend
(REST API Services)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2011680"/>
            <a:ext cx="2377440" cy="164592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22402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CFE870"/>
                </a:solidFill>
                <a:latin typeface="Calibri"/>
              </a:rPr>
              <a:t>Neon Cloud PostgreSQL
(Pooled DB Cluster)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697480"/>
            <a:ext cx="411480" cy="64008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25694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FE870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2697480"/>
            <a:ext cx="411480" cy="64008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51576" y="25694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FE870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697480"/>
            <a:ext cx="411480" cy="64008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25694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FE870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3474720" cy="192024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3474720" cy="438912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096512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E870"/>
                </a:solidFill>
                <a:latin typeface="Calibri"/>
              </a:rPr>
              <a:t>Google Gemini Generative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572000"/>
            <a:ext cx="32552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9FA"/>
                </a:solidFill>
                <a:latin typeface="Calibri"/>
              </a:rPr>
              <a:t>Automated drafting pipeline: transforms brief coordinator prompts into structured titles, agendas, categories, and schedules with multi-model fallback.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023360"/>
            <a:ext cx="3749039" cy="192024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4023360"/>
            <a:ext cx="3749039" cy="438912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4096512"/>
            <a:ext cx="35295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E870"/>
                </a:solidFill>
                <a:latin typeface="Calibri"/>
              </a:rPr>
              <a:t>Brevo Transactional Email (v3)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572000"/>
            <a:ext cx="352958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9FA"/>
                </a:solidFill>
                <a:latin typeface="Calibri"/>
              </a:rPr>
              <a:t>Asynchronous background threading: delivers responsive HTML event tickets and welcome credentials directly to student inboxes without UI blocking.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023360"/>
            <a:ext cx="3474720" cy="192024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4023360"/>
            <a:ext cx="3474720" cy="438912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7" y="4096512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FE870"/>
                </a:solidFill>
                <a:latin typeface="Calibri"/>
              </a:rPr>
              <a:t>GitHub Actions CI/CD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7" y="4572000"/>
            <a:ext cx="32552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9FA"/>
                </a:solidFill>
                <a:latin typeface="Calibri"/>
              </a:rPr>
              <a:t>Continuous integration &amp; regression testing: runs automated frontend builds, Flask unit test suites (7 passing tests), and Docker validation.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FB88D"/>
                </a:solidFill>
                <a:latin typeface="Calibri"/>
              </a:rPr>
              <a:t>Decoupled cloud design with background threading workers ensures sub-50ms API response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FE870"/>
                </a:solidFill>
                <a:latin typeface="Calibri"/>
              </a:rPr>
              <a:t>Comprehensive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8F9FA"/>
                </a:solidFill>
                <a:latin typeface="Calibri"/>
              </a:rPr>
              <a:t>Enterprise-grade, modern open-source toolchain powering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749039" cy="224028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749039" cy="475488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CFE870"/>
                </a:solidFill>
                <a:latin typeface="Calibri"/>
              </a:rPr>
              <a:t>Frontend: 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9FA"/>
                </a:solidFill>
                <a:latin typeface="Calibri"/>
              </a:rPr>
              <a:t>Single Page Application with fast HMR, responsive Tailwind CSS styling, custom monochrome SVG icons, and Newsreader collegiate typography.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463040"/>
            <a:ext cx="3749039" cy="224028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463040"/>
            <a:ext cx="3749039" cy="475488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CFE870"/>
                </a:solidFill>
                <a:latin typeface="Calibri"/>
              </a:rPr>
              <a:t>Backend: Python 3.12 +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57400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9FA"/>
                </a:solidFill>
                <a:latin typeface="Calibri"/>
              </a:rPr>
              <a:t>Lightweight REST API backend utilizing connection pooling, parameter validation, modular route blueprints, and background threading.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463040"/>
            <a:ext cx="3749039" cy="224028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63040"/>
            <a:ext cx="3749039" cy="475488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CFE870"/>
                </a:solidFill>
                <a:latin typeface="Calibri"/>
              </a:rPr>
              <a:t>Database: Neon Serverless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9FA"/>
                </a:solidFill>
                <a:latin typeface="Calibri"/>
              </a:rPr>
              <a:t>Cloud-hosted relational database featuring pooled connection strings, foreign key constraints (ON DELETE CASCADE), and ACID transactions.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3749039" cy="224028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3749039" cy="475488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CFE870"/>
                </a:solidFill>
                <a:latin typeface="Calibri"/>
              </a:rPr>
              <a:t>AI Integration: Google Gemini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26280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9FA"/>
                </a:solidFill>
                <a:latin typeface="Calibri"/>
              </a:rPr>
              <a:t>Intelligent event generation engine with resilient fallback across gemini-3.5-flash and gemini-flash-latest models.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931920"/>
            <a:ext cx="3749039" cy="224028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3931920"/>
            <a:ext cx="3749039" cy="475488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023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CFE870"/>
                </a:solidFill>
                <a:latin typeface="Calibri"/>
              </a:rPr>
              <a:t>Email Service: Brevo REST API (v3)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526280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9FA"/>
                </a:solidFill>
                <a:latin typeface="Calibri"/>
              </a:rPr>
              <a:t>Automated transactional email dispatching personalized welcome passes and event entry tickets with college credentials.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931920"/>
            <a:ext cx="3749039" cy="224028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931920"/>
            <a:ext cx="3749039" cy="475488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0233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CFE870"/>
                </a:solidFill>
                <a:latin typeface="Calibri"/>
              </a:rPr>
              <a:t>DevOps &amp; CI/CD: GitHub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26280"/>
            <a:ext cx="34930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8F9FA"/>
                </a:solidFill>
                <a:latin typeface="Calibri"/>
              </a:rPr>
              <a:t>Automated continuous integration pipeline testing Vite builds, 7 Flask unit tests, Docker container validation, and Vercel edge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FE870"/>
                </a:solidFill>
                <a:latin typeface="Calibri"/>
              </a:rPr>
              <a:t>Platform Features: Student &amp; Administrator Suites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8F9FA"/>
                </a:solidFill>
                <a:latin typeface="Calibri"/>
              </a:rPr>
              <a:t>Complete end-to-end functionality tailored for students and department faculty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484632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5248655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CFE870"/>
                </a:solidFill>
                <a:latin typeface="Calibri"/>
              </a:rPr>
              <a:t>Student Experience &amp; Engagement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Event Discovery &amp; Live Category Filters: Browse workshops, technical symposiums, cultural sessions, placements, and seminars with live event counts.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Real-Time Seat Capacity Meters: Live visual progress bars showing occupied and remaining spots with duplicate registration safeguards.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1-Click Registration &amp; Email Passes: Immediate registration confirmation with automated Brevo transactional email tickets.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Personal 'My Schedule' Dashboard: Track enrolled sessions, upcoming event dates, venues, and attendance confirmation status.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Verified Digital Certificates: Access and print authorized participation credentials with official gold seal and QR verification.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Interest-Based Recommendations: Tailored suggestions matching declared technical interests (AI, Web, Cloud, Placements).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577840" cy="484632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5248655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CFE870"/>
                </a:solidFill>
                <a:latin typeface="Calibri"/>
              </a:rPr>
              <a:t>Administrator &amp; Registrar Suite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Live Attendee Rosters: View registered students per event with full names, registration numbers (e.g. 610825BIT001), departments, and classes.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1-Click CSV Export: Instantly download complete attendee rosters for offline university records, attendance grading, and gate security check-ins.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Student Directory &amp; User Deletion: Complete visibility into registered accounts with individual removal and two-step safe bulk deletion safeguards.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Real-Time Event Editor: Modify event schedules, venues, descriptions, and seat limits on the fly without losing student enrollment history.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AI-Assisted Event Auto-Fill: Gemini AI automatically generates polished titles, agendas, and durations from rough coordinator prompts.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Live Institutional Analytics: Real-time dashboard metrics tracking total events, enrolled students, and seat utilization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FE870"/>
                </a:solidFill>
                <a:latin typeface="Calibri"/>
              </a:rPr>
              <a:t>Core Implementation: Production Code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8F9FA"/>
                </a:solidFill>
                <a:latin typeface="Calibri"/>
              </a:rPr>
              <a:t>Flask API atomic registration, connection pooling, and non-blocking asynchronous email threading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5029200"/>
          </a:xfrm>
          <a:prstGeom prst="rect">
            <a:avLst/>
          </a:prstGeom>
          <a:solidFill>
            <a:srgbClr val="0E2418"/>
          </a:solidFill>
          <a:ln w="12700">
            <a:solidFill>
              <a:srgbClr val="2D5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384048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870"/>
                </a:solidFill>
                <a:latin typeface="Consolas"/>
              </a:rPr>
              <a:t>📄  backend/app.py — Atomic Registration Handler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21207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>
                <a:solidFill>
                  <a:srgbClr val="D5F0CE"/>
                </a:solidFill>
                <a:latin typeface="Consolas"/>
              </a:rPr>
              <a:t># backend/app.py — Atomic Event Registration
@app.route('/api/events/&lt;int:event_id&gt;/register', methods=['POST'])
def register_for_event(event_id):
    data = request.json or {}
    user_id = data.get('user_id')
    if not user_id:
        return jsonify({'error': 'user_id required'}), 400
    conn = get_db()
    with conn.cursor() as cur:
        # Atomic seat capacity check
        cur.execute("SELECT seats FROM events WHERE id = %s", (event_id,))
        ev = cur.fetchone()
        cur.execute("SELECT COUNT(*) FROM registrations WHERE event_id = %s",
                    (event_id,))
        count = cur.fetchone()[0]
        if ev and count &gt;= ev['seats']:
            return jsonify({'error': 'Event is full'}), 400
        # Enforce unique registration per student
        cur.execute("""
            INSERT INTO registrations (user_id, event_id, status)
            VALUES (%s, %s, 'Confirmed')
            ON CONFLICT (user_id, event_id) DO NOTHING
            RETURNING id
        """, (user_id, event_id))
        reg = cur.fetchone()
        conn.commit()
    if not reg:
        return jsonify({'error': 'Already registered'}), 409
    # Trigger asynchronous Brevo email pass
    trigger_confirmation_email(user_id, event_id)
    return jsonify({'message': 'Registration confirmed', 'id': reg['id']})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577840" cy="5029200"/>
          </a:xfrm>
          <a:prstGeom prst="rect">
            <a:avLst/>
          </a:prstGeom>
          <a:solidFill>
            <a:srgbClr val="0E2418"/>
          </a:solidFill>
          <a:ln w="12700">
            <a:solidFill>
              <a:srgbClr val="2D5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577840" cy="384048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870"/>
                </a:solidFill>
                <a:latin typeface="Consolas"/>
              </a:rPr>
              <a:t>📄  backend/brevo_service.py — Async Services &amp; AI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21207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>
                <a:solidFill>
                  <a:srgbClr val="D5F0CE"/>
                </a:solidFill>
                <a:latin typeface="Consolas"/>
              </a:rPr>
              <a:t># backend/brevo_service.py — Asynchronous Email &amp; AI
def send_brevo_email_async(to_email, to_name, subject, html):
    """Non-blocking transactional email delivery."""
    def worker():
        api_key, sender_email, sender_name = get_brevo_config()
        payload = {
            "sender": {"name": sender_name, "email": sender_email},
            "to": [{"email": to_email, "name": to_name}],
            "subject": subject,
            "htmlContent": html
        }
        requests.post(
            "https://api.brevo.com/v3/smtp/email",
            headers={"api-key": api_key, "Content-Type": "application/json"},
            json=payload, timeout=10
        )
    threading.Thread(target=worker, daemon=True).start()
def generate_event_with_gemini(prompt):
    """Multi-model AI fallback pipeline."""
    for model in ['gemini-3.5-flash', 'gemini-flash-latest']:
        try:
            m = genai.GenerativeModel(model)
            resp = m.generate_content(SYSTEM_PROMPT + prompt)
            return json.loads(clean_json(resp.text))
        except Exception:
            continue
    return fallback_template(prompt)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FE870"/>
                </a:solidFill>
                <a:latin typeface="Calibri"/>
              </a:rPr>
              <a:t>Official Certificate Verification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8F9FA"/>
                </a:solidFill>
                <a:latin typeface="Calibri"/>
              </a:rPr>
              <a:t>Authorized distributor layout, gold medallion seal, QR verification, and real signatory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7498079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56032" cy="484632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73152" cy="658368"/>
          </a:xfrm>
          <a:prstGeom prst="rect">
            <a:avLst/>
          </a:prstGeom>
          <a:solidFill>
            <a:srgbClr val="9F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3825"/>
                </a:solidFill>
                <a:latin typeface="Calibri"/>
              </a:rPr>
              <a:t>AUTHORIZED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7451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3825"/>
                </a:solidFill>
                <a:latin typeface="Calibri"/>
              </a:rPr>
              <a:t>DISTRIBUTOR CERTIFICATE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72768"/>
            <a:ext cx="731520" cy="731520"/>
          </a:xfrm>
          <a:prstGeom prst="rect">
            <a:avLst/>
          </a:prstGeom>
          <a:solidFill>
            <a:srgbClr val="D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09344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A3305"/>
                </a:solidFill>
                <a:latin typeface="Calibri"/>
              </a:rPr>
              <a:t>★
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600200"/>
            <a:ext cx="658368" cy="658368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73736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This certifies that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43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3825"/>
                </a:solidFill>
                <a:latin typeface="Calibri"/>
              </a:rPr>
              <a:t>Abhilash 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337560"/>
            <a:ext cx="6583680" cy="1325880"/>
          </a:xfrm>
          <a:prstGeom prst="rect">
            <a:avLst/>
          </a:prstGeom>
          <a:solidFill>
            <a:srgbClr val="FBFDF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29000"/>
            <a:ext cx="6309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D34"/>
                </a:solidFill>
                <a:latin typeface="Calibri"/>
              </a:rPr>
              <a:t>is an Authorized Participant for CodeCraft Hackathon under the Campus Circle event catalog.
This authorization applies exclusively to the technical sprint and workshops held on 2026-10-11 at C Block Auditorium, Er. Perumal Manimekalai College of Engineering.</a:t>
            </a:r>
          </a:p>
        </p:txBody>
      </p:sp>
      <p:pic>
        <p:nvPicPr>
          <p:cNvPr id="20" name="Picture 19" descr="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709160"/>
            <a:ext cx="1645920" cy="84071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669280" y="5257800"/>
            <a:ext cx="1737360" cy="18288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5303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3825"/>
                </a:solidFill>
                <a:latin typeface="Calibri"/>
              </a:rPr>
              <a:t>Abhilash R
AUTHORIZED SIGNATORY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52160"/>
            <a:ext cx="7498079" cy="411480"/>
          </a:xfrm>
          <a:prstGeom prst="rect">
            <a:avLst/>
          </a:prstGeom>
          <a:solidFill>
            <a:srgbClr val="9F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59253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43825"/>
                </a:solidFill>
                <a:latin typeface="Calibri"/>
              </a:rPr>
              <a:t>certificate.issued_on: 2026-10-11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5852160"/>
            <a:ext cx="548640" cy="41148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1417320"/>
            <a:ext cx="3749039" cy="484632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527048"/>
            <a:ext cx="3419856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CFE870"/>
                </a:solidFill>
                <a:latin typeface="Calibri"/>
              </a:rPr>
              <a:t>Credential Highlights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Official Academic Layout: Clean distributor certificate format matching institutional standards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Zero Bracket Placeholders: Pure typography rendering student recipient and event details without bracket symbols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Authentic Signatory Integration: High-resolution authorized signature image for Abhilash R, Authorized Signatory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Gold Medallion &amp; QR Verification: Engraved 2026 authorized seal and digital QR verification code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A4 Landscape Auto-Print: Custom CSS rules (@page size: landscape) formatted for 1-click PDF download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Tamper-Resistant Validation: Credential records cross-referenced against PostgreSQL registration keys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FE870"/>
                </a:solidFill>
                <a:latin typeface="Calibri"/>
              </a:rPr>
              <a:t>Live Platform Demonstration: Student &amp; Admin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8F9FA"/>
                </a:solidFill>
                <a:latin typeface="Calibri"/>
              </a:rPr>
              <a:t>Real production interface showing Student Discovery and Admin Attendee Roster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talog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35608"/>
            <a:ext cx="5541264" cy="43525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417320"/>
            <a:ext cx="55778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min_roster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435608"/>
            <a:ext cx="5541264" cy="43525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618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870"/>
                </a:solidFill>
                <a:latin typeface="Calibri"/>
              </a:rPr>
              <a:t>Student View: Classic logo badge, category filter pills, real-time seat countdowns, and 1-click registration.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961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870"/>
                </a:solidFill>
                <a:latin typeface="Calibri"/>
              </a:rPr>
              <a:t>Admin View: Live attendee roster with register numbers (610825BIT001), department, and 1-click CSV Export.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F8F9FA"/>
                </a:solidFill>
                <a:latin typeface="Calibri"/>
              </a:rPr>
              <a:t>Live production site: https://campuscirclepmc.vercel.app  ·  Department of Information Technology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4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FE870"/>
                </a:solidFill>
                <a:latin typeface="Calibri"/>
              </a:rPr>
              <a:t>DevOps, Security Architecture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8F9FA"/>
                </a:solidFill>
                <a:latin typeface="Calibri"/>
              </a:rPr>
              <a:t>Continuous deployment, automated regression testing, security safeguards, and live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12188952" cy="27432"/>
          </a:xfrm>
          <a:prstGeom prst="rect">
            <a:avLst/>
          </a:prstGeom>
          <a:solidFill>
            <a:srgbClr val="CFE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365760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27048"/>
            <a:ext cx="5248655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CFE870"/>
                </a:solidFill>
                <a:latin typeface="Calibri"/>
              </a:rPr>
              <a:t>DevOps &amp; Automated Testing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GitHub Actions CI/CD Pipeline (.github/workflows/ci.yml): Automated validation on push and PR to main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Frontend Build Verification: Installs npm dependencies and validates Vite production bundling (0 build errors)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Flask Backend Unit Test Suite: All 7 unit test cases passing in 0.045s (API routes, email HTML, sanitization)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Docker Containerization: Syntax-validated multi-stage container readiness for portable deployments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Continuous Cloud Deployment: Zero-downtime automated deployment to Vercel production edge network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577840" cy="3657600"/>
          </a:xfrm>
          <a:prstGeom prst="rect">
            <a:avLst/>
          </a:prstGeom>
          <a:solidFill>
            <a:srgbClr val="1E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27048"/>
            <a:ext cx="5248655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CFE870"/>
                </a:solidFill>
                <a:latin typeface="Calibri"/>
              </a:rPr>
              <a:t>Security &amp; Data Integrity Safeguards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Two-Step Typed Confirmation Safeguard: Bulk user deletion requires typing 'DELETE ALL USERS' to unlock execution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Role-Based Access Control (RBAC): Strict administrative route protection separating student and registrar permissions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SQL Injection Defense: Parameterized SQL queries (%s tokens) executed via psycopg2 context managers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Connection Pooling &amp; Scalability: Neon serverless PostgreSQL connection pooling supporting concurrent traffic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8F9FA"/>
                </a:solidFill>
                <a:latin typeface="Calibri"/>
              </a:rPr>
              <a:t>• Referential Integrity: Foreign keys with ON DELETE CASCADE ensure clean automated registration cleanups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257800"/>
            <a:ext cx="11430000" cy="137160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FE870"/>
                </a:solidFill>
                <a:latin typeface="Calibri"/>
              </a:rPr>
              <a:t>Campus Circle — Live Platform &amp; Demonstration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🌐  Live Production URL: https://campuscirclepmc.vercel.app  |  💻  GitHub: github.com/Abhi7Prajapathi/Events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FB88D"/>
                </a:solidFill>
                <a:latin typeface="Calibri"/>
              </a:rPr>
              <a:t>Er. Perumal Manimekalai College of Engineering · Department of Information Technology ·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Montserrat</vt:lpstr>
      <vt:lpstr>Poppins</vt:lpstr>
      <vt:lpstr>Office Theme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Monika Kumaresan</dc:creator>
  <dc:description>generated using python-pptx</dc:description>
  <cp:lastModifiedBy>Abhi R Prajapathi</cp:lastModifiedBy>
  <cp:revision>1</cp:revision>
  <dcterms:created xsi:type="dcterms:W3CDTF">2013-01-27T09:14:16Z</dcterms:created>
  <dcterms:modified xsi:type="dcterms:W3CDTF">2026-10-23T16:10:18Z</dcterms:modified>
</cp:coreProperties>
</file>