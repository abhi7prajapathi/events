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embeddedFontLst>
    <p:embeddedFont>
      <p:font typeface="Montserrat" panose="00000500000000000000" pitchFamily="2" charset="0"/>
      <p:regular r:id="rId3"/>
      <p:bold r:id="rId4"/>
    </p:embeddedFont>
    <p:embeddedFont>
      <p:font typeface="Poppins" panose="00000500000000000000" pitchFamily="2" charset="0"/>
      <p:regular r:id="rId5"/>
      <p:bold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16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525" y="9525"/>
            <a:ext cx="12172950" cy="57150"/>
          </a:xfrm>
          <a:prstGeom prst="rect">
            <a:avLst/>
          </a:prstGeom>
          <a:solidFill>
            <a:srgbClr val="903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525" y="6791325"/>
            <a:ext cx="12172950" cy="57150"/>
          </a:xfrm>
          <a:prstGeom prst="rect">
            <a:avLst/>
          </a:prstGeom>
          <a:solidFill>
            <a:srgbClr val="903C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2925" y="2639317"/>
            <a:ext cx="11106150" cy="1198215"/>
          </a:xfrm>
          <a:prstGeom prst="roundRect">
            <a:avLst>
              <a:gd name="adj" fmla="val 95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2925" y="5057626"/>
            <a:ext cx="706755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839075" y="5057626"/>
            <a:ext cx="3810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2925" y="3818483"/>
            <a:ext cx="11106150" cy="19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2925" y="2639317"/>
            <a:ext cx="11106150" cy="1905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2925" y="2639317"/>
            <a:ext cx="76200" cy="1198215"/>
          </a:xfrm>
          <a:prstGeom prst="rect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30025" y="2639317"/>
            <a:ext cx="19050" cy="1198215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839075" y="6419701"/>
            <a:ext cx="3810000" cy="9525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39075" y="5057626"/>
            <a:ext cx="3810000" cy="9525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39075" y="5057626"/>
            <a:ext cx="47625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639550" y="5057626"/>
            <a:ext cx="9525" cy="1371600"/>
          </a:xfrm>
          <a:prstGeom prst="rect">
            <a:avLst/>
          </a:prstGeom>
          <a:solidFill>
            <a:srgbClr val="FDE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15300" y="5643413"/>
            <a:ext cx="3295650" cy="466725"/>
          </a:xfrm>
          <a:prstGeom prst="roundRect">
            <a:avLst>
              <a:gd name="adj" fmla="val 16326"/>
            </a:avLst>
          </a:prstGeom>
          <a:solidFill>
            <a:srgbClr val="FFFBEB"/>
          </a:solidFill>
          <a:ln w="9525">
            <a:solidFill>
              <a:srgbClr val="FEF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1050" y="5571976"/>
            <a:ext cx="1562100" cy="657225"/>
          </a:xfrm>
          <a:prstGeom prst="roundRect">
            <a:avLst>
              <a:gd name="adj" fmla="val 16326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4574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1338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810250" y="5543401"/>
            <a:ext cx="1562100" cy="685800"/>
          </a:xfrm>
          <a:prstGeom prst="roundRect">
            <a:avLst>
              <a:gd name="adj" fmla="val 11111"/>
            </a:avLst>
          </a:prstGeom>
          <a:solidFill>
            <a:srgbClr val="FAF5FF"/>
          </a:solidFill>
          <a:ln w="9525">
            <a:solidFill>
              <a:srgbClr val="D8B4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" y="428625"/>
            <a:ext cx="1828800" cy="762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85554" y="457200"/>
            <a:ext cx="8163520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75" b="1" i="0" u="none">
                <a:solidFill>
                  <a:srgbClr val="3B0764"/>
                </a:solidFill>
                <a:latin typeface="Montserrat"/>
              </a:rPr>
              <a:t>ER. PERUMAL MANIMEKALAI COLLEGE OF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4220" y="714375"/>
            <a:ext cx="3834854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75" b="1" i="0" u="none">
                <a:solidFill>
                  <a:srgbClr val="B45309"/>
                </a:solidFill>
                <a:latin typeface="Poppins"/>
              </a:rPr>
              <a:t>AN AUTONOMOUS INSTITUTION • HOSUR – 635 117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7535" y="942975"/>
            <a:ext cx="3741539" cy="219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25" b="1" i="0" u="none">
                <a:solidFill>
                  <a:srgbClr val="6B21A8"/>
                </a:solidFill>
                <a:latin typeface="Poppins"/>
              </a:rPr>
              <a:t>DEPARTMENT OF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2025" y="2925067"/>
            <a:ext cx="10420350" cy="190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B45309"/>
                </a:solidFill>
                <a:latin typeface="Poppins"/>
              </a:rPr>
              <a:t>PROJECT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025" y="3191767"/>
            <a:ext cx="7315200" cy="33586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35"/>
              </a:lnSpc>
            </a:pPr>
            <a:r>
              <a:rPr lang="en-IN" sz="2100" b="1" i="0" u="none">
                <a:solidFill>
                  <a:srgbClr val="1E1B4B"/>
                </a:solidFill>
                <a:latin typeface="Montserrat"/>
              </a:rPr>
              <a:t>Campus Circ</a:t>
            </a:r>
            <a:r>
              <a:rPr lang="en-IN" sz="2100" b="1">
                <a:solidFill>
                  <a:srgbClr val="1E1B4B"/>
                </a:solidFill>
                <a:latin typeface="Montserrat"/>
              </a:rPr>
              <a:t>le</a:t>
            </a:r>
            <a:endParaRPr sz="2100" b="1" i="0" u="none">
              <a:solidFill>
                <a:srgbClr val="1E1B4B"/>
              </a:solidFill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81050" y="5257651"/>
            <a:ext cx="668655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B21A8"/>
                </a:solidFill>
                <a:latin typeface="Poppins"/>
              </a:rPr>
              <a:t>PRESENTED BY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300" y="5376713"/>
            <a:ext cx="33909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B45309"/>
                </a:solidFill>
                <a:latin typeface="Poppins"/>
              </a:rPr>
              <a:t>PROJECT GUIDE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1937" y="5767238"/>
            <a:ext cx="3762375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>
                <a:solidFill>
                  <a:srgbClr val="78350F"/>
                </a:solidFill>
                <a:latin typeface="Poppins"/>
              </a:rPr>
              <a:t>Sijal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038" y="5819557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Abhilash R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02682" y="5813189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Anbu </a:t>
            </a:r>
            <a:r>
              <a:rPr lang="en-IN" sz="1125" b="1">
                <a:solidFill>
                  <a:srgbClr val="3B0764"/>
                </a:solidFill>
                <a:latin typeface="Poppins"/>
              </a:rPr>
              <a:t>S</a:t>
            </a:r>
            <a:r>
              <a:rPr lang="en-IN" sz="1125" b="1" i="0" u="none">
                <a:solidFill>
                  <a:srgbClr val="3B0764"/>
                </a:solidFill>
                <a:latin typeface="Poppins"/>
              </a:rPr>
              <a:t>elvan K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114800" y="5803664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>
                <a:solidFill>
                  <a:srgbClr val="3B0764"/>
                </a:solidFill>
                <a:latin typeface="Poppins"/>
              </a:rPr>
              <a:t>Dileep Kumar A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738812" y="5813189"/>
            <a:ext cx="1690687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1125" b="1" i="0" u="none" err="1">
                <a:solidFill>
                  <a:srgbClr val="3B0764"/>
                </a:solidFill>
                <a:latin typeface="Poppins"/>
              </a:rPr>
              <a:t>Aanandha</a:t>
            </a:r>
            <a:r>
              <a:rPr lang="en-IN" sz="1125" b="1" i="0" u="none">
                <a:solidFill>
                  <a:srgbClr val="3B0764"/>
                </a:solidFill>
                <a:latin typeface="Poppins"/>
              </a:rPr>
              <a:t> S</a:t>
            </a:r>
            <a:endParaRPr sz="1125" b="1" i="0" u="none">
              <a:solidFill>
                <a:srgbClr val="3B0764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Department of Information Technology · Campus Circle Event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0" i="0">
                <a:solidFill>
                  <a:srgbClr val="143825"/>
                </a:solidFill>
                <a:latin typeface="Calibri"/>
              </a:rPr>
              <a:t>Campus Circle is an official, modern full-stack event management and credential verification platform designed specifically for Er. Perumal Manimekalai College of Engineering. It replaces fragmented WhatsApp notices with a centralized registry featuring automated email passes, student rosters, and verified digital certificates.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606040"/>
            <a:ext cx="3749039" cy="310896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606040"/>
            <a:ext cx="3749039" cy="50292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Institutional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246120"/>
            <a:ext cx="3429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Academic departments coordinate numerous workshops, hackathons, and placement drives. Physical circulars and informal groups lead to low student turnout, unregistered walk-ins, and manual attendance overhead.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606040"/>
            <a:ext cx="3749039" cy="310896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2606040"/>
            <a:ext cx="3749039" cy="50292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The Campus Circle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246120"/>
            <a:ext cx="3429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A centralized web platform where faculty and coordinators publish events, students register with one click, receive instant Brevo email tickets, and view personalized event recommendations.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606040"/>
            <a:ext cx="3749039" cy="310896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2606040"/>
            <a:ext cx="3749039" cy="50292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Registrar &amp; Administrative Power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3246120"/>
            <a:ext cx="3429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Complete roster control: administrators can view enrolled students per event, export attendance to CSV, edit schedules in real time, and manage student accounts with safe bulk deletion safeguards.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126480"/>
            <a:ext cx="12188952" cy="182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6217920"/>
            <a:ext cx="1218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Department of Information Technology  ·  Er. Perumal Manimekalai College of 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Tech Stack &amp; Engineering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Modern, scalable technologies powering Campus Circle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749039" cy="475488"/>
          </a:xfrm>
          <a:prstGeom prst="rect">
            <a:avLst/>
          </a:prstGeom>
          <a:solidFill>
            <a:srgbClr val="0F2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React 18 + Vite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High-performance frontend client with modular components, smooth modal flows, and responsive layouts.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46304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463040"/>
            <a:ext cx="3749039" cy="475488"/>
          </a:xfrm>
          <a:prstGeom prst="rect">
            <a:avLst/>
          </a:prstGeom>
          <a:solidFill>
            <a:srgbClr val="0F2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554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Flask (Python 3.12)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05740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Robust REST API backend with secure route handlers, parameter validation, and modular service decoupling.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46304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463040"/>
            <a:ext cx="3749039" cy="475488"/>
          </a:xfrm>
          <a:prstGeom prst="rect">
            <a:avLst/>
          </a:prstGeom>
          <a:solidFill>
            <a:srgbClr val="0F2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5544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Neon 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5740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Serverless cloud relational database featuring pooled connection strings and strict foreign key integrity.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93192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931920"/>
            <a:ext cx="3749039" cy="475488"/>
          </a:xfrm>
          <a:prstGeom prst="rect">
            <a:avLst/>
          </a:prstGeom>
          <a:solidFill>
            <a:srgbClr val="0F2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0233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Google Gemini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2628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Generative AI integration for 1-click event drafting, category classification, and schedule copywriting.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93192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931920"/>
            <a:ext cx="3749039" cy="475488"/>
          </a:xfrm>
          <a:prstGeom prst="rect">
            <a:avLst/>
          </a:prstGeom>
          <a:solidFill>
            <a:srgbClr val="0F2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0233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Brevo Transactional Email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52628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Automated email service delivering personalized Welcome credentials and QR event tickets.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3931920"/>
            <a:ext cx="3749039" cy="2240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79" y="3931920"/>
            <a:ext cx="3749039" cy="475488"/>
          </a:xfrm>
          <a:prstGeom prst="rect">
            <a:avLst/>
          </a:prstGeom>
          <a:solidFill>
            <a:srgbClr val="0F2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40233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FE870"/>
                </a:solidFill>
                <a:latin typeface="Calibri"/>
              </a:rPr>
              <a:t>GitHub Actions CI/CD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526280"/>
            <a:ext cx="349300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8F9FA"/>
                </a:solidFill>
                <a:latin typeface="Calibri"/>
              </a:rPr>
              <a:t>Automated pipeline validating frontend builds, Flask unit tests (7 test cases), and Docker deployments.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System Architecture &amp; Dataflow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Decoupled client-server design with asynchronous cloud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194560"/>
            <a:ext cx="2377440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Student / Admin
Client Interface
(Mobile &amp; Desktop)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194560"/>
            <a:ext cx="2377440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React 18 + Vite
(SPA Client on Vercel)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94560"/>
            <a:ext cx="2377440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79" y="2423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Python Flask Backend
(REST API Services)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2194560"/>
            <a:ext cx="2377440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19" y="24231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1" i="0">
                <a:solidFill>
                  <a:srgbClr val="CFE870"/>
                </a:solidFill>
                <a:latin typeface="Calibri"/>
              </a:rPr>
              <a:t>Neon Cloud PostgreSQL
(Pooled DB Cluster)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880360"/>
            <a:ext cx="411480" cy="6400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16936" y="275234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43825"/>
                </a:solidFill>
                <a:latin typeface="Calibri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2880360"/>
            <a:ext cx="411480" cy="6400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6" y="275234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43825"/>
                </a:solidFill>
                <a:latin typeface="Calibri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880360"/>
            <a:ext cx="411480" cy="6400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86216" y="275234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43825"/>
                </a:solidFill>
                <a:latin typeface="Calibri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206240"/>
            <a:ext cx="3474720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206240"/>
            <a:ext cx="3474720" cy="4114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270248"/>
            <a:ext cx="32552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FE870"/>
                </a:solidFill>
                <a:latin typeface="Calibri"/>
              </a:rPr>
              <a:t>Google Gemini AI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4709159"/>
            <a:ext cx="325526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8F9FA"/>
                </a:solidFill>
                <a:latin typeface="Calibri"/>
              </a:rPr>
              <a:t>Generates structured event descriptions, schedules, and categories from rough coordinator prompts with multi-model fallback.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4206240"/>
            <a:ext cx="3749039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06240" y="4206240"/>
            <a:ext cx="3749039" cy="4114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4270248"/>
            <a:ext cx="35295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FE870"/>
                </a:solidFill>
                <a:latin typeface="Calibri"/>
              </a:rPr>
              <a:t>Brevo Transactional Email (v3)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4709159"/>
            <a:ext cx="352958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8F9FA"/>
                </a:solidFill>
                <a:latin typeface="Calibri"/>
              </a:rPr>
              <a:t>Asynchronous background threading for immediate client response. Sends branded welcome emails and HTML event ticket passes.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4206240"/>
            <a:ext cx="3474720" cy="16459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4206240"/>
            <a:ext cx="3474720" cy="4114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0767" y="4270248"/>
            <a:ext cx="325526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FE870"/>
                </a:solidFill>
                <a:latin typeface="Calibri"/>
              </a:rPr>
              <a:t>GitHub Actions CI/CD Pipeline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7" y="4709159"/>
            <a:ext cx="325526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8F9FA"/>
                </a:solidFill>
                <a:latin typeface="Calibri"/>
              </a:rPr>
              <a:t>Automated regression testing on every push: Vite bundle build, 7 Flask unit tests, Docker container validation, and Vercel sync.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080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Fully decoupled architecture with asynchronous email threading and pooled Neon cloud database.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Student Experience &amp;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Intuitive, seamless engagement for engineering students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669280" cy="15727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Event Discovery &amp; Live Filters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202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9FA"/>
                </a:solidFill>
                <a:latin typeface="Calibri"/>
              </a:rPr>
              <a:t>Browse upcoming campus events categorized into Workshop, Technical, Cultural, Placement, and Seminar with live search and category count pills.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669280" cy="15727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Instant 1-Click 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920240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9FA"/>
                </a:solidFill>
                <a:latin typeface="Calibri"/>
              </a:rPr>
              <a:t>Register with a single click. The system enforces duplicate registration checks and dynamically manages seat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27248"/>
            <a:ext cx="5669280" cy="15727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2186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Personalized 'My Events'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363016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9FA"/>
                </a:solidFill>
                <a:latin typeface="Calibri"/>
              </a:rPr>
              <a:t>Dedicated space tracking confirmed event registrations, schedules, venues, and personal enrollment status.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127248"/>
            <a:ext cx="5669280" cy="15727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2186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Digital Verified Certificates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630168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9FA"/>
                </a:solidFill>
                <a:latin typeface="Calibri"/>
              </a:rPr>
              <a:t>View and print official academic participation credentials featuring authorized gold seal, QR verification code, and landscape A4 print styling.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37176"/>
            <a:ext cx="5669280" cy="15727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928616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Interest-Based Recommendations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53400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9FA"/>
                </a:solidFill>
                <a:latin typeface="Calibri"/>
              </a:rPr>
              <a:t>Algorithmic suggestions tailored to each student's declared academic interests (e.g., AI, Web Dev, Cloud, Placement).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4837176"/>
            <a:ext cx="5669280" cy="15727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4928616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CFE870"/>
                </a:solidFill>
                <a:latin typeface="Calibri"/>
              </a:rPr>
              <a:t>Automated Email Ticket Passes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5340096"/>
            <a:ext cx="53949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8F9FA"/>
                </a:solidFill>
                <a:latin typeface="Calibri"/>
              </a:rPr>
              <a:t>Instant branded email confirmation dispatched to student inboxes containing full schedule details, venue instructions, and college credentials.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Admin &amp; Registrar Control 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Comprehensive attendee management, roster exports, and security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2286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3749039" cy="47548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FE870"/>
                </a:solidFill>
                <a:latin typeface="Calibri"/>
              </a:rPr>
              <a:t>Registered Student Rosters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34930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Admins can inspect the complete attendee roster for any event, displaying student names, registration numbers, departments, classes, and email addresses in real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417320"/>
            <a:ext cx="3749039" cy="2286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417320"/>
            <a:ext cx="3749039" cy="47548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5087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FE870"/>
                </a:solidFill>
                <a:latin typeface="Calibri"/>
              </a:rPr>
              <a:t>1-Click CSV Export &amp; Gate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011680"/>
            <a:ext cx="34930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Download complete attendee rosters to standard CSV format for offline academic records, attendance grading, or print physical lists for campus gate security.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1417320"/>
            <a:ext cx="3749039" cy="2286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79" y="1417320"/>
            <a:ext cx="3749039" cy="47548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50876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FE870"/>
                </a:solidFill>
                <a:latin typeface="Calibri"/>
              </a:rPr>
              <a:t>Student Directory &amp; Safe Bulk Deletion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11680"/>
            <a:ext cx="34930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Admins have full visibility into the student user database with individual record removal and a safe bulk wipe modal protected by a 2-step typed confirmation challenge ('DELETE ALL USERS').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886200"/>
            <a:ext cx="3749039" cy="2286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886200"/>
            <a:ext cx="3749039" cy="47548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77639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FE870"/>
                </a:solidFill>
                <a:latin typeface="Calibri"/>
              </a:rPr>
              <a:t>Real-Time Event Editor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34930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Easily edit any active event's title, date, time, venue, seat quota, or description without losing student enrollment history.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886200"/>
            <a:ext cx="3749039" cy="2286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886200"/>
            <a:ext cx="3749039" cy="47548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3977639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FE870"/>
                </a:solidFill>
                <a:latin typeface="Calibri"/>
              </a:rPr>
              <a:t>AI-Powered Event Auto-Fill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480560"/>
            <a:ext cx="34930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Coordinators enter a brief sentence, and Gemini AI auto-generates professional titles, technical agendas, category tags, and duration.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3886200"/>
            <a:ext cx="3749039" cy="2286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79" y="3886200"/>
            <a:ext cx="3749039" cy="47548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977639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FE870"/>
                </a:solidFill>
                <a:latin typeface="Calibri"/>
              </a:rPr>
              <a:t>Live Dashboard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480560"/>
            <a:ext cx="34930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8F9FA"/>
                </a:solidFill>
                <a:latin typeface="Calibri"/>
              </a:rPr>
              <a:t>Real-time institutional metrics showing total published events, total registered seats, and registered student count.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AI Automation &amp; Transactional Communications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Google Gemini copywriting and Brevo REST email dispatching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1430000" cy="105156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8F9FA"/>
                </a:solidFill>
                <a:latin typeface="Calibri"/>
              </a:rPr>
              <a:t>Campus Circle replaces manual event drafting and missing confirmations with automated AI generation and transactional email delivery. Coordinators publish events effortlessly while students receive instant, branded passes in their inbox.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633472"/>
            <a:ext cx="2788920" cy="29260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43825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AI Auto-Fill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60520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8F9FA"/>
                </a:solidFill>
                <a:latin typeface="Calibri"/>
              </a:rPr>
              <a:t>Admin types brief idea → Gemini AI generates structured title, category, description, and schedule.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2633472"/>
            <a:ext cx="2788920" cy="29260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15968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43825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7288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Instant Publishing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4160520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8F9FA"/>
                </a:solidFill>
                <a:latin typeface="Calibri"/>
              </a:rPr>
              <a:t>Event is validated and stored in Neon PostgreSQL cloud DB, immediately live on Discover.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2633472"/>
            <a:ext cx="2788920" cy="29260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60336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0336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43825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Welcome Email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4160520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8F9FA"/>
                </a:solidFill>
                <a:latin typeface="Calibri"/>
              </a:rPr>
              <a:t>New student registers → Brevo API sends a branded welcome email with profile credentials.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98864" y="2633472"/>
            <a:ext cx="2788920" cy="29260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204704" y="2724912"/>
            <a:ext cx="777240" cy="77724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04704" y="2761488"/>
            <a:ext cx="777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43825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6024" y="36118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Event Ticket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6024" y="4160520"/>
            <a:ext cx="2560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8F9FA"/>
                </a:solidFill>
                <a:latin typeface="Calibri"/>
              </a:rPr>
              <a:t>Student clicks Register → Brevo dispatches a ticket pass with schedule, venue, and reminders.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978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Calibri"/>
              </a:rPr>
              <a:t>Multi-model AI fallback: gemini-3.5-flash → gemini-flash-latest  |  Async background email threading for sub-second UI response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Official Certificate Verification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Printable participation credentials with digital seal &amp; authentic signature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7498079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FD6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17320"/>
            <a:ext cx="256032" cy="484632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645920"/>
            <a:ext cx="73152" cy="658368"/>
          </a:xfrm>
          <a:prstGeom prst="rect">
            <a:avLst/>
          </a:prstGeom>
          <a:solidFill>
            <a:srgbClr val="9F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62763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43825"/>
                </a:solidFill>
                <a:latin typeface="Calibri"/>
              </a:rPr>
              <a:t>AUTHORIZED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874519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43825"/>
                </a:solidFill>
                <a:latin typeface="Calibri"/>
              </a:rPr>
              <a:t>DISTRIBUTOR CERTIFICATE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572768"/>
            <a:ext cx="731520" cy="731520"/>
          </a:xfrm>
          <a:prstGeom prst="rect">
            <a:avLst/>
          </a:prstGeom>
          <a:solidFill>
            <a:srgbClr val="DFB7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609344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A3305"/>
                </a:solidFill>
                <a:latin typeface="Calibri"/>
              </a:rPr>
              <a:t>★
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1600200"/>
            <a:ext cx="658368" cy="65836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1737360"/>
            <a:ext cx="6583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4688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This certifies that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74320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43825"/>
                </a:solidFill>
                <a:latin typeface="Calibri"/>
              </a:rPr>
              <a:t>Abhilash 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337560"/>
            <a:ext cx="6583680" cy="1325880"/>
          </a:xfrm>
          <a:prstGeom prst="rect">
            <a:avLst/>
          </a:prstGeom>
          <a:solidFill>
            <a:srgbClr val="FBFDF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29000"/>
            <a:ext cx="63093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D34"/>
                </a:solidFill>
                <a:latin typeface="Calibri"/>
              </a:rPr>
              <a:t>is an Authorized Participant for CodeCraft Hackathon under the Campus Circle event catalog.
This authorization applies exclusively to the technical sprint and workshops held on 2026-10-11 at C Block Auditorium, Er. Perumal Manimekalai College of Engineering.</a:t>
            </a:r>
          </a:p>
        </p:txBody>
      </p:sp>
      <p:pic>
        <p:nvPicPr>
          <p:cNvPr id="20" name="Picture 19" descr="sign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4709160"/>
            <a:ext cx="1645920" cy="84071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669280" y="5257800"/>
            <a:ext cx="1737360" cy="18288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0" y="53035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43825"/>
                </a:solidFill>
                <a:latin typeface="Calibri"/>
              </a:rPr>
              <a:t>Abhilash R
AUTHORIZED SIGNATORY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852160"/>
            <a:ext cx="7498079" cy="411480"/>
          </a:xfrm>
          <a:prstGeom prst="rect">
            <a:avLst/>
          </a:prstGeom>
          <a:solidFill>
            <a:srgbClr val="9F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59253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143825"/>
                </a:solidFill>
                <a:latin typeface="Calibri"/>
              </a:rPr>
              <a:t>certificate.issued_on: 2026-10-11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5852160"/>
            <a:ext cx="548640" cy="41148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2440" y="1417320"/>
            <a:ext cx="3749039" cy="484632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19" y="1554480"/>
            <a:ext cx="338327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CFE870"/>
                </a:solidFill>
                <a:latin typeface="Calibri"/>
              </a:rPr>
              <a:t>Credential Highlights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F8F9FA"/>
                </a:solidFill>
                <a:latin typeface="Calibri"/>
              </a:rPr>
              <a:t>• Official reference template layout matching academic standard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F8F9FA"/>
                </a:solidFill>
                <a:latin typeface="Calibri"/>
              </a:rPr>
              <a:t>• Zero brackets: professional formatting for recipient &amp; event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F8F9FA"/>
                </a:solidFill>
                <a:latin typeface="Calibri"/>
              </a:rPr>
              <a:t>• Real authorized signatory signature integrated directly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F8F9FA"/>
                </a:solidFill>
                <a:latin typeface="Calibri"/>
              </a:rPr>
              <a:t>• Gold medallion seal of excellence &amp; digital QR verification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F8F9FA"/>
                </a:solidFill>
                <a:latin typeface="Calibri"/>
              </a:rPr>
              <a:t>• Mobile-responsive display + landscape A4 print styling (@page)</a:t>
            </a:r>
          </a:p>
          <a:p>
            <a:pPr algn="l">
              <a:spcBef>
                <a:spcPts val="400"/>
              </a:spcBef>
            </a:pPr>
            <a:r>
              <a:rPr sz="1250">
                <a:solidFill>
                  <a:srgbClr val="F8F9FA"/>
                </a:solidFill>
                <a:latin typeface="Calibri"/>
              </a:rPr>
              <a:t>• Tamper-resistant digital issuance linked to user registration ID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Relational Database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Normalized PostgreSQL database on Neon Serverless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43825"/>
                </a:solidFill>
                <a:latin typeface="Calibri"/>
              </a:rPr>
              <a:t>users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92807"/>
            <a:ext cx="3749039" cy="4526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4048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name          TEXT NOT NULL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8254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email         TEXT UNIQUE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2461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password     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6667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reg_no        TEXT UNIQUE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408736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department   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450799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class        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492861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interests    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" y="534924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role          TEXT DEFAULT 'student'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576986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created_at    TIMESTAMP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59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43825"/>
                </a:solidFill>
                <a:latin typeface="Calibri"/>
              </a:rPr>
              <a:t>events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51959" y="1892807"/>
            <a:ext cx="3749039" cy="4526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1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1" y="24048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title         TEXT NOT NULL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1" y="28254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category     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1" y="32461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date          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1" y="36667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time          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1" y="408736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venue        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1" y="450799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deadline      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1" y="492861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description   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1" y="534924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seats         INT DEFAULT 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1" y="576986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image         TEXT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79" y="1417320"/>
            <a:ext cx="3749039" cy="475488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1463040"/>
            <a:ext cx="3520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43825"/>
                </a:solidFill>
                <a:latin typeface="Calibri"/>
              </a:rPr>
              <a:t>registrations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83879" y="1892807"/>
            <a:ext cx="3749039" cy="452628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48471" y="198424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id            SERIAL PRIMARY KEY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48471" y="240487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user_id       INT → users.id (CASCADE)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8471" y="282549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event_id      INT → events.id (CASCADE)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8471" y="324612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status        TEXT DEFAULT 'Confirmed'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48471" y="3666744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created_at    TIMESTAMP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48471" y="4087368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8471" y="4507992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UNIQUE(user_id, event_id)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48471" y="4928616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JOIN user_id → Attendee Roster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8471" y="5349240"/>
            <a:ext cx="34930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8F9FA"/>
                </a:solidFill>
                <a:latin typeface="Courier New"/>
              </a:rPr>
              <a:t>Admin CSV Export Query Source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REST API Endpoints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Comprehensive Flask backend services &amp; admin control endpoints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11567160" cy="393192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426464"/>
            <a:ext cx="86868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444752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44475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44475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List all active events with per-student registration 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828800"/>
            <a:ext cx="11567160" cy="393192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865376"/>
            <a:ext cx="868680" cy="3200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1883664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188366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/api/events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188366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Publish new event to campus catalog (Admin only)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67712"/>
            <a:ext cx="11567160" cy="393192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" y="2304288"/>
            <a:ext cx="868680" cy="3200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322576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232257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/api/events/&lt;id&gt;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232257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Update event details, timing, venue, and seat limit (Admin)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706624"/>
            <a:ext cx="11567160" cy="393192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" y="2743200"/>
            <a:ext cx="868680" cy="3200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2761488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8448" y="276148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/api/events/&lt;id&gt;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276148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Delete event with cascading registration cleanup (Admin)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145536"/>
            <a:ext cx="11567160" cy="393192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7472" y="3182112"/>
            <a:ext cx="868680" cy="3200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3200400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8448" y="32004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/api/events/&lt;id&gt;/register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320040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Register student + dispatch Brevo email ticket pass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584448"/>
            <a:ext cx="11567160" cy="393192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" y="3621024"/>
            <a:ext cx="86868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3639312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98448" y="36393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/api/events/&lt;id&gt;/registrations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363931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Fetch attendee roster (name, reg_no, dept, class) for Admin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023360"/>
            <a:ext cx="11567160" cy="393192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472" y="4059936"/>
            <a:ext cx="86868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4078224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8448" y="407822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/api/users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0" y="407822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List all registered students in the institution directory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462272"/>
            <a:ext cx="11567160" cy="393192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7472" y="4498848"/>
            <a:ext cx="868680" cy="3200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7472" y="4517136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8448" y="451713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/api/users/&lt;user_id&gt;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0720" y="451713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Delete individual user account and cascade cleanups (Admin)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901183"/>
            <a:ext cx="11567160" cy="393192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" y="4937759"/>
            <a:ext cx="868680" cy="3200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" y="4956047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98448" y="4956047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/api/admin/clear-all-users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0720" y="4956047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Safe bulk deletion of all registered users with challenge code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340096"/>
            <a:ext cx="11567160" cy="393192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7472" y="5376672"/>
            <a:ext cx="868680" cy="3200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7472" y="5394959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98448" y="5394959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/api/register-user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760720" y="5394959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Register new student account + send Brevo welcome email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0040" y="5779008"/>
            <a:ext cx="11567160" cy="393192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7472" y="5815584"/>
            <a:ext cx="868680" cy="3200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7472" y="5833872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98448" y="58338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/api/login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0" y="583387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Authenticate student/admin &amp; return profile session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6217919"/>
            <a:ext cx="11567160" cy="393192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47472" y="6254495"/>
            <a:ext cx="868680" cy="3200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7472" y="6272783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98448" y="6272783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E870"/>
                </a:solidFill>
                <a:latin typeface="Courier New"/>
              </a:rPr>
              <a:t>/api/ai/generate-event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60720" y="6272783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9FA"/>
                </a:solidFill>
                <a:latin typeface="Calibri"/>
              </a:rPr>
              <a:t>Gemini AI: generate full event JSON from coordinator prompt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FE870"/>
                </a:solidFill>
                <a:latin typeface="Calibri"/>
              </a:rPr>
              <a:t>GitHub Actions CI/CD &amp; Deployment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F8F9FA"/>
                </a:solidFill>
                <a:latin typeface="Calibri"/>
              </a:rPr>
              <a:t>Continuous integration, automated unit testing, and cloud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27432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5760720" cy="502920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39495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Automated CI/CD Pipeline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GitHub Actions Workflow (.github/workflows/ci.yml)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Triggered automatically on every push &amp; pull request to 'main'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Step 1: Frontend Vite Production Build Test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  - Installs npm dependencies and validates zero syntax/bundle errors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Step 2: Python Backend Unit Test Suite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  - Runs unittest discover across backend/tests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  - Validates API responses, registration validations, and email HTML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  - All 7 automated unit test cases passing (0.045s execution)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Step 3: Dockerfile Syntax Validation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  - Verifies container structure and multi-stage build readiness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17320"/>
            <a:ext cx="5577840" cy="5029200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5212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FE870"/>
                </a:solidFill>
                <a:latin typeface="Calibri"/>
              </a:rPr>
              <a:t>Cloud Production Deployment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Production Cloud Infrastructure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Frontend &amp; Backend Serverless Deployment on Vercel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  - Live production URL: https://campuscirclepmc.vercel.app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  - Instant zero-downtime updates on git push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Neon Serverless PostgreSQL Database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  - Cloud-hosted with connection pooling and automated backups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Brevo Transactional Email Integration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  - Dedicated API keys delivering passes with college credentials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F8F9FA"/>
                </a:solidFill>
                <a:latin typeface="Calibri"/>
              </a:rPr>
              <a:t>• Environment Variables Managed Securely in Vercel Settings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3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FE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CFE870"/>
                </a:solidFill>
                <a:latin typeface="Calibri"/>
              </a:rPr>
              <a:t>Campus Circle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Official Event Management &amp; Credential Verification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8F9FA"/>
                </a:solidFill>
                <a:latin typeface="Calibri"/>
              </a:rPr>
              <a:t>Department of Information Technology · Er. Perumal Manimekalai College of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2834640"/>
            <a:ext cx="310896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94436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FE870"/>
                </a:solidFill>
                <a:latin typeface="Calibri"/>
              </a:rPr>
              <a:t>React 18 + Vite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834640"/>
            <a:ext cx="310896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94436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FE870"/>
                </a:solidFill>
                <a:latin typeface="Calibri"/>
              </a:rPr>
              <a:t>Flask REST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2834640"/>
            <a:ext cx="310896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94436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FE870"/>
                </a:solidFill>
                <a:latin typeface="Calibri"/>
              </a:rPr>
              <a:t>Neon PostgreSQL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3703320"/>
            <a:ext cx="310896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381304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FE870"/>
                </a:solidFill>
                <a:latin typeface="Calibri"/>
              </a:rPr>
              <a:t>Gemini AI Assistant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703320"/>
            <a:ext cx="310896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81304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FE870"/>
                </a:solidFill>
                <a:latin typeface="Calibri"/>
              </a:rPr>
              <a:t>Brevo Email Passes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3703320"/>
            <a:ext cx="310896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381304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FE870"/>
                </a:solidFill>
                <a:latin typeface="Calibri"/>
              </a:rPr>
              <a:t>Attendee Rosters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34440" y="4572000"/>
            <a:ext cx="310896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25880" y="46817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FE870"/>
                </a:solidFill>
                <a:latin typeface="Calibri"/>
              </a:rPr>
              <a:t>CSV Attendance Export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4572000"/>
            <a:ext cx="310896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46817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FE870"/>
                </a:solidFill>
                <a:latin typeface="Calibri"/>
              </a:rPr>
              <a:t>Admin Bulk Deletion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9560" y="4572000"/>
            <a:ext cx="3108960" cy="658368"/>
          </a:xfrm>
          <a:prstGeom prst="rect">
            <a:avLst/>
          </a:prstGeom>
          <a:solidFill>
            <a:srgbClr val="1E4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46817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CFE870"/>
                </a:solidFill>
                <a:latin typeface="Calibri"/>
              </a:rPr>
              <a:t>GitHub Actions CI/CD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0F2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0" y="59893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FE870"/>
                </a:solidFill>
                <a:latin typeface="Calibri"/>
              </a:rPr>
              <a:t>Live Platform: https://campuscirclepmc.vercel.app  ·  Repository: github.com/Abhi7Prajapathi/Events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0" y="635508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8F9FA"/>
                </a:solidFill>
                <a:latin typeface="Calibri"/>
              </a:rPr>
              <a:t>Thank you! Open for questions and live demonstration.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</Words>
  <Application>Microsoft Office PowerPoint</Application>
  <PresentationFormat>Widescreen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Montserrat</vt:lpstr>
      <vt:lpstr>Poppins</vt:lpstr>
      <vt:lpstr>Office Theme</vt:lpstr>
      <vt:lpstr>PowerPoint Presentation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Monika Kumaresan</dc:creator>
  <dc:description>generated using python-pptx</dc:description>
  <cp:lastModifiedBy>Abhi R Prajapathi</cp:lastModifiedBy>
  <cp:revision>1</cp:revision>
  <dcterms:created xsi:type="dcterms:W3CDTF">2013-01-27T09:14:16Z</dcterms:created>
  <dcterms:modified xsi:type="dcterms:W3CDTF">2026-10-23T16:10:18Z</dcterms:modified>
</cp:coreProperties>
</file>